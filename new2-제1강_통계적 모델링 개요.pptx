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73" r:id="rId4"/>
    <p:sldId id="274" r:id="rId5"/>
    <p:sldId id="272" r:id="rId6"/>
    <p:sldId id="275" r:id="rId7"/>
    <p:sldId id="257" r:id="rId8"/>
    <p:sldId id="288" r:id="rId9"/>
    <p:sldId id="289" r:id="rId10"/>
    <p:sldId id="290" r:id="rId11"/>
    <p:sldId id="291" r:id="rId12"/>
    <p:sldId id="276" r:id="rId13"/>
    <p:sldId id="277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59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D5861-C3B8-4E26-A65F-AE1F011CF99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D495C-7BB3-4F91-9EA7-1DAD1D16F6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1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B238F-F702-4F52-9094-3F54904F6651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5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70D6D-2F53-46AE-99EB-FBC03218EB41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36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35DB-1923-409E-A555-54F0364DA82E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8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582F4-342B-4947-A1F9-37B8AEA1D039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16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4252-5D35-4D1D-A225-A03D4CA9D659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57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A0003-A959-490E-ACCC-27A8DDD523E4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820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A82C6-BB1E-4434-A8DF-7D2A64886C78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44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D947-8FB0-4085-9B34-8AB92FF3A7DA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63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0C0A-5FF7-458A-A08D-734EB803A8A9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7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733F8-B6BA-47FB-8E9E-28E7401FE84C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71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A56F-A793-4E08-8DA2-4CDFD32D3DDE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01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22348-B354-4BDD-B86B-858DBBF5E7F1}" type="datetime1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C6AB5-3C89-4EFD-831D-2BC6B573F6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83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cnEsy_428fM" TargetMode="Externa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www.youtube.com/@simulation_20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22402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ko-KR" altLang="en-US" dirty="0" smtClean="0"/>
              <a:t>제</a:t>
            </a:r>
            <a:r>
              <a:rPr lang="en-US" altLang="ko-KR" dirty="0" smtClean="0"/>
              <a:t>1</a:t>
            </a:r>
            <a:r>
              <a:rPr lang="ko-KR" altLang="en-US" dirty="0" smtClean="0"/>
              <a:t>강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통계적 모델링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318028"/>
            <a:ext cx="9144000" cy="1655762"/>
          </a:xfrm>
        </p:spPr>
        <p:txBody>
          <a:bodyPr/>
          <a:lstStyle/>
          <a:p>
            <a:r>
              <a:rPr lang="ko-KR" altLang="en-US" dirty="0" smtClean="0"/>
              <a:t>김창훈 박사</a:t>
            </a:r>
            <a:endParaRPr lang="en-US" altLang="ko-KR" dirty="0" smtClean="0"/>
          </a:p>
          <a:p>
            <a:r>
              <a:rPr lang="en-US" altLang="ko-KR" dirty="0" smtClean="0"/>
              <a:t>chang88@hanyang.ac.kr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05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진리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眞理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와 근거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根據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를 토대로 문제를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773603" y="4285681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문제 해결을 위하여 데이터를 활용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sp>
        <p:nvSpPr>
          <p:cNvPr id="6" name="직사각형 5"/>
          <p:cNvSpPr/>
          <p:nvPr/>
        </p:nvSpPr>
        <p:spPr>
          <a:xfrm>
            <a:off x="3814743" y="4485736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데이터 기반 思考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5742" y="4597880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/>
              <a:t>정형 데이터</a:t>
            </a:r>
            <a:endParaRPr lang="ko-KR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247501" y="506801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/>
              <a:t>非정형 데이터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773603" y="4867964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이용하여 논리적인 의사결정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773603" y="5404061"/>
            <a:ext cx="4240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이용하여 인과관계 분석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sp>
        <p:nvSpPr>
          <p:cNvPr id="11" name="구름 10"/>
          <p:cNvSpPr/>
          <p:nvPr/>
        </p:nvSpPr>
        <p:spPr>
          <a:xfrm>
            <a:off x="123544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현상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80237" y="1401792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경험 기반 思考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780237" y="2889654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직관 기반 思考</a:t>
            </a:r>
          </a:p>
        </p:txBody>
      </p:sp>
      <p:cxnSp>
        <p:nvCxnSpPr>
          <p:cNvPr id="15" name="직선 화살표 연결선 14"/>
          <p:cNvCxnSpPr>
            <a:stCxn id="11" idx="1"/>
            <a:endCxn id="7" idx="0"/>
          </p:cNvCxnSpPr>
          <p:nvPr/>
        </p:nvCxnSpPr>
        <p:spPr>
          <a:xfrm>
            <a:off x="2154158" y="2431694"/>
            <a:ext cx="2" cy="21661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0"/>
            <a:endCxn id="12" idx="1"/>
          </p:cNvCxnSpPr>
          <p:nvPr/>
        </p:nvCxnSpPr>
        <p:spPr>
          <a:xfrm flipV="1">
            <a:off x="3071340" y="1984075"/>
            <a:ext cx="7088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830910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합리적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의사결정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/>
          <p:cNvCxnSpPr>
            <a:stCxn id="12" idx="3"/>
            <a:endCxn id="20" idx="2"/>
          </p:cNvCxnSpPr>
          <p:nvPr/>
        </p:nvCxnSpPr>
        <p:spPr>
          <a:xfrm>
            <a:off x="6031731" y="1984075"/>
            <a:ext cx="22830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3"/>
            <a:endCxn id="20" idx="2"/>
          </p:cNvCxnSpPr>
          <p:nvPr/>
        </p:nvCxnSpPr>
        <p:spPr>
          <a:xfrm flipV="1">
            <a:off x="6031731" y="1984076"/>
            <a:ext cx="2283073" cy="1487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20" idx="1"/>
          </p:cNvCxnSpPr>
          <p:nvPr/>
        </p:nvCxnSpPr>
        <p:spPr>
          <a:xfrm flipV="1">
            <a:off x="9227818" y="2431694"/>
            <a:ext cx="0" cy="168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3"/>
            <a:endCxn id="9" idx="1"/>
          </p:cNvCxnSpPr>
          <p:nvPr/>
        </p:nvCxnSpPr>
        <p:spPr>
          <a:xfrm>
            <a:off x="6066237" y="5068019"/>
            <a:ext cx="707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6" idx="1"/>
          </p:cNvCxnSpPr>
          <p:nvPr/>
        </p:nvCxnSpPr>
        <p:spPr>
          <a:xfrm>
            <a:off x="3060818" y="5068019"/>
            <a:ext cx="753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1" idx="0"/>
            <a:endCxn id="13" idx="1"/>
          </p:cNvCxnSpPr>
          <p:nvPr/>
        </p:nvCxnSpPr>
        <p:spPr>
          <a:xfrm>
            <a:off x="3071340" y="1984076"/>
            <a:ext cx="708897" cy="1487861"/>
          </a:xfrm>
          <a:prstGeom prst="bentConnector3">
            <a:avLst>
              <a:gd name="adj1" fmla="val 426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473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진리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眞理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와 근거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根據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를 토대로 문제를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773603" y="4285681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1">
                    <a:lumMod val="85000"/>
                  </a:schemeClr>
                </a:solidFill>
              </a:rPr>
              <a:t>문제 해결을 위하여 데이터를 활용</a:t>
            </a: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14743" y="4485736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</a:rPr>
              <a:t>데이터 기반 思考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5742" y="4597880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>
                <a:solidFill>
                  <a:schemeClr val="bg1">
                    <a:lumMod val="85000"/>
                  </a:schemeClr>
                </a:solidFill>
              </a:rPr>
              <a:t>정형 데이터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7501" y="506801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chemeClr val="bg1">
                    <a:lumMod val="85000"/>
                  </a:schemeClr>
                </a:solidFill>
              </a:rPr>
              <a:t>非정형 데이터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3603" y="4867964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1">
                    <a:lumMod val="85000"/>
                  </a:schemeClr>
                </a:solidFill>
              </a:rPr>
              <a:t>데이터를 이용하여 논리적인 의사결정</a:t>
            </a: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3603" y="5404061"/>
            <a:ext cx="4240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1">
                    <a:lumMod val="85000"/>
                  </a:schemeClr>
                </a:solidFill>
              </a:rPr>
              <a:t>데이터를 이용하여 인과관계 분석</a:t>
            </a:r>
            <a:r>
              <a:rPr lang="en-US" altLang="ko-KR" sz="2000" dirty="0" smtClean="0">
                <a:solidFill>
                  <a:schemeClr val="bg1">
                    <a:lumMod val="8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구름 10"/>
          <p:cNvSpPr/>
          <p:nvPr/>
        </p:nvSpPr>
        <p:spPr>
          <a:xfrm>
            <a:off x="123544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현상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80237" y="1401792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경험 기반 思考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“ </a:t>
            </a:r>
            <a:r>
              <a:rPr lang="ko-KR" altLang="en-US" dirty="0" smtClean="0">
                <a:solidFill>
                  <a:srgbClr val="FF0000"/>
                </a:solidFill>
              </a:rPr>
              <a:t>기억과 응용 </a:t>
            </a:r>
            <a:r>
              <a:rPr lang="en-US" altLang="ko-KR" dirty="0" smtClean="0">
                <a:solidFill>
                  <a:srgbClr val="FF0000"/>
                </a:solidFill>
              </a:rPr>
              <a:t>“</a:t>
            </a:r>
            <a:endParaRPr lang="ko-KR" altLang="en-US" dirty="0" smtClean="0">
              <a:solidFill>
                <a:srgbClr val="FF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780237" y="2889654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직관 기반 思考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“ </a:t>
            </a:r>
            <a:r>
              <a:rPr lang="ko-KR" altLang="en-US" dirty="0" smtClean="0">
                <a:solidFill>
                  <a:srgbClr val="FF0000"/>
                </a:solidFill>
              </a:rPr>
              <a:t>명제와 주관 </a:t>
            </a:r>
            <a:r>
              <a:rPr lang="en-US" altLang="ko-KR" dirty="0" smtClean="0">
                <a:solidFill>
                  <a:srgbClr val="FF0000"/>
                </a:solidFill>
              </a:rPr>
              <a:t>“</a:t>
            </a:r>
            <a:endParaRPr lang="ko-KR" altLang="en-US" dirty="0" smtClean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/>
          <p:cNvCxnSpPr>
            <a:stCxn id="11" idx="1"/>
            <a:endCxn id="7" idx="0"/>
          </p:cNvCxnSpPr>
          <p:nvPr/>
        </p:nvCxnSpPr>
        <p:spPr>
          <a:xfrm>
            <a:off x="2154158" y="2431694"/>
            <a:ext cx="2" cy="2166186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0"/>
            <a:endCxn id="12" idx="1"/>
          </p:cNvCxnSpPr>
          <p:nvPr/>
        </p:nvCxnSpPr>
        <p:spPr>
          <a:xfrm flipV="1">
            <a:off x="3071340" y="1984075"/>
            <a:ext cx="7088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830910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합리적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의사결정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/>
          <p:cNvCxnSpPr>
            <a:stCxn id="12" idx="3"/>
            <a:endCxn id="20" idx="2"/>
          </p:cNvCxnSpPr>
          <p:nvPr/>
        </p:nvCxnSpPr>
        <p:spPr>
          <a:xfrm>
            <a:off x="6031731" y="1984075"/>
            <a:ext cx="22830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3"/>
            <a:endCxn id="20" idx="2"/>
          </p:cNvCxnSpPr>
          <p:nvPr/>
        </p:nvCxnSpPr>
        <p:spPr>
          <a:xfrm flipV="1">
            <a:off x="6031731" y="1984076"/>
            <a:ext cx="2283073" cy="1487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20" idx="1"/>
          </p:cNvCxnSpPr>
          <p:nvPr/>
        </p:nvCxnSpPr>
        <p:spPr>
          <a:xfrm flipV="1">
            <a:off x="9227818" y="2431694"/>
            <a:ext cx="0" cy="168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3"/>
            <a:endCxn id="9" idx="1"/>
          </p:cNvCxnSpPr>
          <p:nvPr/>
        </p:nvCxnSpPr>
        <p:spPr>
          <a:xfrm>
            <a:off x="6066237" y="5068019"/>
            <a:ext cx="707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6" idx="1"/>
          </p:cNvCxnSpPr>
          <p:nvPr/>
        </p:nvCxnSpPr>
        <p:spPr>
          <a:xfrm>
            <a:off x="3060818" y="5068019"/>
            <a:ext cx="753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1" idx="0"/>
            <a:endCxn id="13" idx="1"/>
          </p:cNvCxnSpPr>
          <p:nvPr/>
        </p:nvCxnSpPr>
        <p:spPr>
          <a:xfrm>
            <a:off x="3071340" y="1984076"/>
            <a:ext cx="708897" cy="1487861"/>
          </a:xfrm>
          <a:prstGeom prst="bentConnector3">
            <a:avLst>
              <a:gd name="adj1" fmla="val 426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5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진리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眞理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와 근거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根據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를 토대로 문제를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773603" y="4285681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FF0000"/>
                </a:solidFill>
              </a:rPr>
              <a:t>“</a:t>
            </a:r>
            <a:r>
              <a:rPr lang="ko-KR" altLang="en-US" sz="2000" dirty="0" smtClean="0">
                <a:solidFill>
                  <a:srgbClr val="FF0000"/>
                </a:solidFill>
              </a:rPr>
              <a:t>문제 해결을 위하여 데이터를 활용</a:t>
            </a:r>
            <a:r>
              <a:rPr lang="en-US" altLang="ko-KR" sz="2000" dirty="0" smtClean="0">
                <a:solidFill>
                  <a:srgbClr val="FF0000"/>
                </a:solidFill>
              </a:rPr>
              <a:t>”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14743" y="4485736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데이터 기반 思考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“ Data Science 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5742" y="4597880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rgbClr val="FF0000"/>
                </a:solidFill>
              </a:rPr>
              <a:t>정형 데이터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7501" y="506801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rgbClr val="FF0000"/>
                </a:solidFill>
              </a:rPr>
              <a:t>非정형 데이터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3603" y="4867964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FF0000"/>
                </a:solidFill>
              </a:rPr>
              <a:t>“</a:t>
            </a:r>
            <a:r>
              <a:rPr lang="ko-KR" altLang="en-US" sz="2000" dirty="0" smtClean="0">
                <a:solidFill>
                  <a:srgbClr val="FF0000"/>
                </a:solidFill>
              </a:rPr>
              <a:t>데이터를 이용하여 논리적인 의사결정</a:t>
            </a:r>
            <a:r>
              <a:rPr lang="en-US" altLang="ko-KR" sz="2000" dirty="0" smtClean="0">
                <a:solidFill>
                  <a:srgbClr val="FF0000"/>
                </a:solidFill>
              </a:rPr>
              <a:t>”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3603" y="5404061"/>
            <a:ext cx="4240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FF0000"/>
                </a:solidFill>
              </a:rPr>
              <a:t>“</a:t>
            </a:r>
            <a:r>
              <a:rPr lang="ko-KR" altLang="en-US" sz="2000" dirty="0" smtClean="0">
                <a:solidFill>
                  <a:srgbClr val="FF0000"/>
                </a:solidFill>
              </a:rPr>
              <a:t>데이터를 이용하여 인과관계 분석</a:t>
            </a:r>
            <a:r>
              <a:rPr lang="en-US" altLang="ko-KR" sz="2000" dirty="0" smtClean="0">
                <a:solidFill>
                  <a:srgbClr val="FF0000"/>
                </a:solidFill>
              </a:rPr>
              <a:t>”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구름 10"/>
          <p:cNvSpPr/>
          <p:nvPr/>
        </p:nvSpPr>
        <p:spPr>
          <a:xfrm>
            <a:off x="123544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현상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80237" y="1401792"/>
            <a:ext cx="2251494" cy="11645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</a:rPr>
              <a:t>경험 기반 思考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780237" y="2889654"/>
            <a:ext cx="2251494" cy="11645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1">
                    <a:lumMod val="85000"/>
                  </a:schemeClr>
                </a:solidFill>
              </a:rPr>
              <a:t>직관 기반 思考</a:t>
            </a:r>
          </a:p>
        </p:txBody>
      </p:sp>
      <p:cxnSp>
        <p:nvCxnSpPr>
          <p:cNvPr id="15" name="직선 화살표 연결선 14"/>
          <p:cNvCxnSpPr>
            <a:stCxn id="11" idx="1"/>
            <a:endCxn id="7" idx="0"/>
          </p:cNvCxnSpPr>
          <p:nvPr/>
        </p:nvCxnSpPr>
        <p:spPr>
          <a:xfrm>
            <a:off x="2154158" y="2431694"/>
            <a:ext cx="2" cy="21661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0"/>
            <a:endCxn id="12" idx="1"/>
          </p:cNvCxnSpPr>
          <p:nvPr/>
        </p:nvCxnSpPr>
        <p:spPr>
          <a:xfrm flipV="1">
            <a:off x="3071340" y="1984075"/>
            <a:ext cx="708897" cy="1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830910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합리적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의사결정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/>
          <p:cNvCxnSpPr>
            <a:stCxn id="12" idx="3"/>
            <a:endCxn id="20" idx="2"/>
          </p:cNvCxnSpPr>
          <p:nvPr/>
        </p:nvCxnSpPr>
        <p:spPr>
          <a:xfrm>
            <a:off x="6031731" y="1984075"/>
            <a:ext cx="22830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3"/>
            <a:endCxn id="20" idx="2"/>
          </p:cNvCxnSpPr>
          <p:nvPr/>
        </p:nvCxnSpPr>
        <p:spPr>
          <a:xfrm flipV="1">
            <a:off x="6031731" y="1984076"/>
            <a:ext cx="2283073" cy="1487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20" idx="1"/>
          </p:cNvCxnSpPr>
          <p:nvPr/>
        </p:nvCxnSpPr>
        <p:spPr>
          <a:xfrm flipV="1">
            <a:off x="9227818" y="2431694"/>
            <a:ext cx="0" cy="168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3"/>
            <a:endCxn id="9" idx="1"/>
          </p:cNvCxnSpPr>
          <p:nvPr/>
        </p:nvCxnSpPr>
        <p:spPr>
          <a:xfrm>
            <a:off x="6066237" y="5068019"/>
            <a:ext cx="707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6" idx="1"/>
          </p:cNvCxnSpPr>
          <p:nvPr/>
        </p:nvCxnSpPr>
        <p:spPr>
          <a:xfrm>
            <a:off x="3060818" y="5068019"/>
            <a:ext cx="753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1" idx="0"/>
            <a:endCxn id="13" idx="1"/>
          </p:cNvCxnSpPr>
          <p:nvPr/>
        </p:nvCxnSpPr>
        <p:spPr>
          <a:xfrm>
            <a:off x="3071340" y="1984076"/>
            <a:ext cx="708897" cy="1487861"/>
          </a:xfrm>
          <a:prstGeom prst="bentConnector3">
            <a:avLst>
              <a:gd name="adj1" fmla="val 42699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845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252159" y="940279"/>
            <a:ext cx="4710022" cy="5781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진리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眞理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와 근거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根據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를 토대로 문제를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773603" y="4285681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문제 해결을 위하여 데이터를 활용</a:t>
            </a:r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14743" y="4485736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데이터 기반 思考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5742" y="4597880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>
                <a:solidFill>
                  <a:schemeClr val="bg2">
                    <a:lumMod val="75000"/>
                  </a:schemeClr>
                </a:solidFill>
              </a:rPr>
              <a:t>정형 데이터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7501" y="506801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非정형 데이터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3603" y="4867964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데이터를 이용하여 논리적인 의사결정</a:t>
            </a:r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3603" y="5404061"/>
            <a:ext cx="4240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데이터를 이용하여 인과관계 분석</a:t>
            </a:r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구름 10"/>
          <p:cNvSpPr/>
          <p:nvPr/>
        </p:nvSpPr>
        <p:spPr>
          <a:xfrm>
            <a:off x="123544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i="1" smtClean="0">
                <a:solidFill>
                  <a:schemeClr val="tx1"/>
                </a:solidFill>
              </a:rPr>
              <a:t>현상</a:t>
            </a:r>
            <a:endParaRPr lang="ko-KR" altLang="en-US" i="1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80237" y="1401792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경험 기반 思考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780237" y="2889654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직관 기반 思考</a:t>
            </a:r>
          </a:p>
        </p:txBody>
      </p:sp>
      <p:cxnSp>
        <p:nvCxnSpPr>
          <p:cNvPr id="15" name="직선 화살표 연결선 14"/>
          <p:cNvCxnSpPr>
            <a:stCxn id="11" idx="1"/>
            <a:endCxn id="7" idx="0"/>
          </p:cNvCxnSpPr>
          <p:nvPr/>
        </p:nvCxnSpPr>
        <p:spPr>
          <a:xfrm>
            <a:off x="2154158" y="2431694"/>
            <a:ext cx="2" cy="21661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0"/>
            <a:endCxn id="12" idx="1"/>
          </p:cNvCxnSpPr>
          <p:nvPr/>
        </p:nvCxnSpPr>
        <p:spPr>
          <a:xfrm flipV="1">
            <a:off x="3071340" y="1984075"/>
            <a:ext cx="7088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830910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i="1" dirty="0" smtClean="0">
                <a:solidFill>
                  <a:schemeClr val="tx1"/>
                </a:solidFill>
              </a:rPr>
              <a:t>합리적 </a:t>
            </a:r>
            <a:endParaRPr lang="en-US" altLang="ko-KR" i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i="1" dirty="0" smtClean="0">
                <a:solidFill>
                  <a:schemeClr val="tx1"/>
                </a:solidFill>
              </a:rPr>
              <a:t>의사결정</a:t>
            </a:r>
            <a:endParaRPr lang="ko-KR" altLang="en-US" i="1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/>
          <p:cNvCxnSpPr>
            <a:stCxn id="12" idx="3"/>
            <a:endCxn id="20" idx="2"/>
          </p:cNvCxnSpPr>
          <p:nvPr/>
        </p:nvCxnSpPr>
        <p:spPr>
          <a:xfrm>
            <a:off x="6031731" y="1984075"/>
            <a:ext cx="22830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3"/>
            <a:endCxn id="20" idx="2"/>
          </p:cNvCxnSpPr>
          <p:nvPr/>
        </p:nvCxnSpPr>
        <p:spPr>
          <a:xfrm flipV="1">
            <a:off x="6031731" y="1984076"/>
            <a:ext cx="2283073" cy="1487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20" idx="1"/>
          </p:cNvCxnSpPr>
          <p:nvPr/>
        </p:nvCxnSpPr>
        <p:spPr>
          <a:xfrm flipV="1">
            <a:off x="9227818" y="2431694"/>
            <a:ext cx="0" cy="168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3"/>
            <a:endCxn id="9" idx="1"/>
          </p:cNvCxnSpPr>
          <p:nvPr/>
        </p:nvCxnSpPr>
        <p:spPr>
          <a:xfrm>
            <a:off x="6066237" y="5068019"/>
            <a:ext cx="707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6" idx="1"/>
          </p:cNvCxnSpPr>
          <p:nvPr/>
        </p:nvCxnSpPr>
        <p:spPr>
          <a:xfrm>
            <a:off x="3060818" y="5068019"/>
            <a:ext cx="753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1" idx="0"/>
            <a:endCxn id="13" idx="1"/>
          </p:cNvCxnSpPr>
          <p:nvPr/>
        </p:nvCxnSpPr>
        <p:spPr>
          <a:xfrm>
            <a:off x="3071340" y="1984076"/>
            <a:ext cx="708897" cy="1487861"/>
          </a:xfrm>
          <a:prstGeom prst="bentConnector3">
            <a:avLst>
              <a:gd name="adj1" fmla="val 426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02867" y="2527151"/>
            <a:ext cx="4028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00FF"/>
                </a:solidFill>
              </a:rPr>
              <a:t>“</a:t>
            </a:r>
            <a:r>
              <a:rPr lang="ko-KR" altLang="en-US" sz="2000" b="1" i="1" dirty="0" smtClean="0">
                <a:solidFill>
                  <a:srgbClr val="0000FF"/>
                </a:solidFill>
              </a:rPr>
              <a:t>시뮬레이션 모델링을 통한 분석</a:t>
            </a:r>
            <a:r>
              <a:rPr lang="en-US" altLang="ko-KR" sz="2000" b="1" i="1" dirty="0" smtClean="0">
                <a:solidFill>
                  <a:srgbClr val="0000FF"/>
                </a:solidFill>
              </a:rPr>
              <a:t>”</a:t>
            </a:r>
            <a:endParaRPr lang="ko-KR" altLang="en-US" sz="2000" b="1" i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74511" y="4025046"/>
            <a:ext cx="4028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00FF"/>
                </a:solidFill>
              </a:rPr>
              <a:t>“</a:t>
            </a:r>
            <a:r>
              <a:rPr lang="ko-KR" altLang="en-US" sz="2000" b="1" i="1" dirty="0" smtClean="0">
                <a:solidFill>
                  <a:srgbClr val="0000FF"/>
                </a:solidFill>
              </a:rPr>
              <a:t>시스템 시뮬레이션을 통한 분석</a:t>
            </a:r>
            <a:r>
              <a:rPr lang="en-US" altLang="ko-KR" sz="2000" b="1" i="1" dirty="0" smtClean="0">
                <a:solidFill>
                  <a:srgbClr val="0000FF"/>
                </a:solidFill>
              </a:rPr>
              <a:t>”</a:t>
            </a:r>
            <a:endParaRPr lang="ko-KR" altLang="en-US" sz="2000" b="1" i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52159" y="5830676"/>
            <a:ext cx="4285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00FF"/>
                </a:solidFill>
              </a:rPr>
              <a:t>“</a:t>
            </a:r>
            <a:r>
              <a:rPr lang="ko-KR" altLang="en-US" sz="2000" b="1" i="1" dirty="0" smtClean="0">
                <a:solidFill>
                  <a:srgbClr val="0000FF"/>
                </a:solidFill>
              </a:rPr>
              <a:t>다이내믹 시뮬레이션을 통한 분석</a:t>
            </a:r>
            <a:r>
              <a:rPr lang="en-US" altLang="ko-KR" sz="2000" b="1" i="1" dirty="0" smtClean="0">
                <a:solidFill>
                  <a:srgbClr val="0000FF"/>
                </a:solidFill>
              </a:rPr>
              <a:t>”</a:t>
            </a:r>
            <a:endParaRPr lang="ko-KR" altLang="en-US" sz="20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89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252159" y="940279"/>
            <a:ext cx="4710022" cy="57811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진리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眞理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와 근거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根據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를 토대로 문제를 해결 </a:t>
            </a:r>
            <a:r>
              <a:rPr lang="en-US" altLang="ko-KR" sz="2400" dirty="0" smtClean="0"/>
              <a:t>by</a:t>
            </a:r>
            <a:r>
              <a:rPr lang="en-US" altLang="ko-KR" sz="2400" dirty="0" smtClean="0">
                <a:solidFill>
                  <a:srgbClr val="FF0000"/>
                </a:solidFill>
              </a:rPr>
              <a:t> What If ?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3603" y="4285681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문제 해결을 위하여 데이터를 활용</a:t>
            </a:r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814743" y="4485736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데이터 기반 思考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5742" y="4597880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mtClean="0">
                <a:solidFill>
                  <a:schemeClr val="bg2">
                    <a:lumMod val="75000"/>
                  </a:schemeClr>
                </a:solidFill>
              </a:rPr>
              <a:t>정형 데이터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47501" y="5068019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非정형 데이터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3603" y="4867964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데이터를 이용하여 논리적인 의사결정</a:t>
            </a:r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3603" y="5404061"/>
            <a:ext cx="4240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“</a:t>
            </a:r>
            <a:r>
              <a:rPr lang="ko-KR" altLang="en-US" sz="2000" dirty="0" smtClean="0">
                <a:solidFill>
                  <a:schemeClr val="bg2">
                    <a:lumMod val="75000"/>
                  </a:schemeClr>
                </a:solidFill>
              </a:rPr>
              <a:t>데이터를 이용하여 인과관계 분석</a:t>
            </a:r>
            <a:r>
              <a:rPr lang="en-US" altLang="ko-KR" sz="2000" dirty="0" smtClean="0">
                <a:solidFill>
                  <a:schemeClr val="bg2">
                    <a:lumMod val="75000"/>
                  </a:schemeClr>
                </a:solidFill>
              </a:rPr>
              <a:t>”</a:t>
            </a:r>
            <a:endParaRPr lang="ko-KR" alt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구름 10"/>
          <p:cNvSpPr/>
          <p:nvPr/>
        </p:nvSpPr>
        <p:spPr>
          <a:xfrm>
            <a:off x="123544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i="1" smtClean="0">
                <a:solidFill>
                  <a:schemeClr val="tx1"/>
                </a:solidFill>
              </a:rPr>
              <a:t>현상</a:t>
            </a:r>
            <a:endParaRPr lang="ko-KR" altLang="en-US" i="1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80237" y="1401792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경험 기반 思考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3780237" y="2889654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bg2">
                    <a:lumMod val="75000"/>
                  </a:schemeClr>
                </a:solidFill>
              </a:rPr>
              <a:t>직관 기반 思考</a:t>
            </a:r>
          </a:p>
        </p:txBody>
      </p:sp>
      <p:cxnSp>
        <p:nvCxnSpPr>
          <p:cNvPr id="15" name="직선 화살표 연결선 14"/>
          <p:cNvCxnSpPr>
            <a:stCxn id="11" idx="1"/>
            <a:endCxn id="7" idx="0"/>
          </p:cNvCxnSpPr>
          <p:nvPr/>
        </p:nvCxnSpPr>
        <p:spPr>
          <a:xfrm>
            <a:off x="2154158" y="2431694"/>
            <a:ext cx="2" cy="21661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1" idx="0"/>
            <a:endCxn id="12" idx="1"/>
          </p:cNvCxnSpPr>
          <p:nvPr/>
        </p:nvCxnSpPr>
        <p:spPr>
          <a:xfrm flipV="1">
            <a:off x="3071340" y="1984075"/>
            <a:ext cx="7088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구름 19"/>
          <p:cNvSpPr/>
          <p:nvPr/>
        </p:nvSpPr>
        <p:spPr>
          <a:xfrm>
            <a:off x="8309105" y="1535502"/>
            <a:ext cx="1837426" cy="897147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i="1" dirty="0" smtClean="0">
                <a:solidFill>
                  <a:schemeClr val="tx1"/>
                </a:solidFill>
              </a:rPr>
              <a:t>합리적 </a:t>
            </a:r>
            <a:endParaRPr lang="en-US" altLang="ko-KR" i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i="1" dirty="0" smtClean="0">
                <a:solidFill>
                  <a:schemeClr val="tx1"/>
                </a:solidFill>
              </a:rPr>
              <a:t>의사결정</a:t>
            </a:r>
            <a:endParaRPr lang="ko-KR" altLang="en-US" i="1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/>
          <p:cNvCxnSpPr>
            <a:stCxn id="12" idx="3"/>
            <a:endCxn id="20" idx="2"/>
          </p:cNvCxnSpPr>
          <p:nvPr/>
        </p:nvCxnSpPr>
        <p:spPr>
          <a:xfrm>
            <a:off x="6031731" y="1984075"/>
            <a:ext cx="22830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3"/>
            <a:endCxn id="20" idx="2"/>
          </p:cNvCxnSpPr>
          <p:nvPr/>
        </p:nvCxnSpPr>
        <p:spPr>
          <a:xfrm flipV="1">
            <a:off x="6031731" y="1984076"/>
            <a:ext cx="2283073" cy="1487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20" idx="1"/>
          </p:cNvCxnSpPr>
          <p:nvPr/>
        </p:nvCxnSpPr>
        <p:spPr>
          <a:xfrm flipV="1">
            <a:off x="9227818" y="2431694"/>
            <a:ext cx="0" cy="1683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3"/>
            <a:endCxn id="9" idx="1"/>
          </p:cNvCxnSpPr>
          <p:nvPr/>
        </p:nvCxnSpPr>
        <p:spPr>
          <a:xfrm>
            <a:off x="6066237" y="5068019"/>
            <a:ext cx="707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6" idx="1"/>
          </p:cNvCxnSpPr>
          <p:nvPr/>
        </p:nvCxnSpPr>
        <p:spPr>
          <a:xfrm>
            <a:off x="3060818" y="5068019"/>
            <a:ext cx="7539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1" idx="0"/>
            <a:endCxn id="13" idx="1"/>
          </p:cNvCxnSpPr>
          <p:nvPr/>
        </p:nvCxnSpPr>
        <p:spPr>
          <a:xfrm>
            <a:off x="3071340" y="1984076"/>
            <a:ext cx="708897" cy="1487861"/>
          </a:xfrm>
          <a:prstGeom prst="bentConnector3">
            <a:avLst>
              <a:gd name="adj1" fmla="val 426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02867" y="2527151"/>
            <a:ext cx="4028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00FF"/>
                </a:solidFill>
              </a:rPr>
              <a:t>“</a:t>
            </a:r>
            <a:r>
              <a:rPr lang="ko-KR" altLang="en-US" sz="2000" b="1" i="1" dirty="0" smtClean="0">
                <a:solidFill>
                  <a:srgbClr val="0000FF"/>
                </a:solidFill>
              </a:rPr>
              <a:t>시뮬레이션 모델링을 통한 분석</a:t>
            </a:r>
            <a:r>
              <a:rPr lang="en-US" altLang="ko-KR" sz="2000" b="1" i="1" dirty="0" smtClean="0">
                <a:solidFill>
                  <a:srgbClr val="0000FF"/>
                </a:solidFill>
              </a:rPr>
              <a:t>”</a:t>
            </a:r>
            <a:endParaRPr lang="ko-KR" altLang="en-US" sz="2000" b="1" i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74511" y="4025046"/>
            <a:ext cx="4028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00FF"/>
                </a:solidFill>
              </a:rPr>
              <a:t>“</a:t>
            </a:r>
            <a:r>
              <a:rPr lang="ko-KR" altLang="en-US" sz="2000" b="1" i="1" dirty="0" smtClean="0">
                <a:solidFill>
                  <a:srgbClr val="C00000"/>
                </a:solidFill>
              </a:rPr>
              <a:t>시스템</a:t>
            </a:r>
            <a:r>
              <a:rPr lang="ko-KR" altLang="en-US" sz="2000" b="1" i="1" dirty="0" smtClean="0">
                <a:solidFill>
                  <a:srgbClr val="0000FF"/>
                </a:solidFill>
              </a:rPr>
              <a:t> 시뮬레이션을 통한 분석</a:t>
            </a:r>
            <a:r>
              <a:rPr lang="en-US" altLang="ko-KR" sz="2000" b="1" i="1" dirty="0" smtClean="0">
                <a:solidFill>
                  <a:srgbClr val="0000FF"/>
                </a:solidFill>
              </a:rPr>
              <a:t>”</a:t>
            </a:r>
            <a:endParaRPr lang="ko-KR" altLang="en-US" sz="2000" b="1" i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52159" y="5830676"/>
            <a:ext cx="4285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0000FF"/>
                </a:solidFill>
              </a:rPr>
              <a:t>“</a:t>
            </a:r>
            <a:r>
              <a:rPr lang="ko-KR" altLang="en-US" sz="2000" b="1" i="1" dirty="0" smtClean="0">
                <a:solidFill>
                  <a:srgbClr val="0000FF"/>
                </a:solidFill>
              </a:rPr>
              <a:t>다이내믹 시뮬레이션을 통한 분석</a:t>
            </a:r>
            <a:r>
              <a:rPr lang="en-US" altLang="ko-KR" sz="2000" b="1" i="1" dirty="0" smtClean="0">
                <a:solidFill>
                  <a:srgbClr val="0000FF"/>
                </a:solidFill>
              </a:rPr>
              <a:t>”</a:t>
            </a:r>
            <a:endParaRPr lang="ko-KR" altLang="en-US" sz="2000" b="1" i="1" dirty="0">
              <a:solidFill>
                <a:srgbClr val="0000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80398" y="964511"/>
            <a:ext cx="2735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FF0000"/>
                </a:solidFill>
              </a:rPr>
              <a:t>“What If Simulation”</a:t>
            </a:r>
            <a:endParaRPr lang="ko-KR" altLang="en-US" sz="2000" b="1" i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98562" y="3654110"/>
            <a:ext cx="2958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dirty="0" smtClean="0">
                <a:solidFill>
                  <a:srgbClr val="FF0000"/>
                </a:solidFill>
              </a:rPr>
              <a:t>“Feedback Simulation</a:t>
            </a:r>
            <a:r>
              <a:rPr lang="en-US" altLang="ko-KR" sz="2000" b="1" i="1" dirty="0" smtClean="0">
                <a:solidFill>
                  <a:srgbClr val="FF0000"/>
                </a:solidFill>
              </a:rPr>
              <a:t>”</a:t>
            </a:r>
            <a:endParaRPr lang="ko-KR" altLang="en-US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84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통계적 모델링</a:t>
            </a:r>
            <a:r>
              <a:rPr lang="en-US" altLang="ko-KR" sz="2400" dirty="0" smtClean="0"/>
              <a:t>, Statistical Modeling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73857" y="1509623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이용하는 통계 분석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cxnSp>
        <p:nvCxnSpPr>
          <p:cNvPr id="8" name="꺾인 연결선 7"/>
          <p:cNvCxnSpPr>
            <a:endCxn id="6" idx="1"/>
          </p:cNvCxnSpPr>
          <p:nvPr/>
        </p:nvCxnSpPr>
        <p:spPr>
          <a:xfrm rot="16200000" flipH="1">
            <a:off x="1370776" y="906597"/>
            <a:ext cx="1002312" cy="603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048110" y="3680155"/>
            <a:ext cx="2251494" cy="11645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수학적 가정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8110" y="4922359"/>
            <a:ext cx="2251494" cy="11645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문제의 특성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11748" y="3680155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수학적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48110" y="2437951"/>
            <a:ext cx="2251494" cy="11645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외적 및 내적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변화 요소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21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통계적 모델링</a:t>
            </a:r>
            <a:r>
              <a:rPr lang="en-US" altLang="ko-KR" sz="2400" dirty="0" smtClean="0"/>
              <a:t>, Statistical Modeling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73857" y="1509623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이용하는 통계 분석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cxnSp>
        <p:nvCxnSpPr>
          <p:cNvPr id="8" name="꺾인 연결선 7"/>
          <p:cNvCxnSpPr>
            <a:endCxn id="6" idx="1"/>
          </p:cNvCxnSpPr>
          <p:nvPr/>
        </p:nvCxnSpPr>
        <p:spPr>
          <a:xfrm rot="16200000" flipH="1">
            <a:off x="1370776" y="906597"/>
            <a:ext cx="1002312" cy="603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3411748" y="3680155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수학적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411748" y="4922359"/>
            <a:ext cx="2251494" cy="11645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가정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775386" y="4922359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775386" y="3680155"/>
            <a:ext cx="2251494" cy="11645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89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통계적 모델링</a:t>
            </a:r>
            <a:r>
              <a:rPr lang="en-US" altLang="ko-KR" sz="2400" dirty="0" smtClean="0"/>
              <a:t>, Statistical Modeling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73857" y="1509623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이용하는 통계 분석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cxnSp>
        <p:nvCxnSpPr>
          <p:cNvPr id="8" name="꺾인 연결선 7"/>
          <p:cNvCxnSpPr>
            <a:endCxn id="6" idx="1"/>
          </p:cNvCxnSpPr>
          <p:nvPr/>
        </p:nvCxnSpPr>
        <p:spPr>
          <a:xfrm rot="16200000" flipH="1">
            <a:off x="1370776" y="906597"/>
            <a:ext cx="1002312" cy="603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3411748" y="3680155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수학적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775386" y="3680155"/>
            <a:ext cx="2251494" cy="11645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75386" y="2425671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시뮬레이션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411748" y="2425671"/>
            <a:ext cx="2251494" cy="11645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시나리오 설정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6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통계적 모델링</a:t>
            </a:r>
            <a:r>
              <a:rPr lang="en-US" altLang="ko-KR" sz="2400" dirty="0" smtClean="0"/>
              <a:t>, Statistical Modeling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73857" y="1509623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이용하는 통계 분석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cxnSp>
        <p:nvCxnSpPr>
          <p:cNvPr id="8" name="꺾인 연결선 7"/>
          <p:cNvCxnSpPr>
            <a:endCxn id="6" idx="1"/>
          </p:cNvCxnSpPr>
          <p:nvPr/>
        </p:nvCxnSpPr>
        <p:spPr>
          <a:xfrm rot="16200000" flipH="1">
            <a:off x="1370776" y="906597"/>
            <a:ext cx="1002312" cy="603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5775386" y="4922359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775386" y="3680155"/>
            <a:ext cx="2251494" cy="11645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75386" y="2425671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시뮬레이션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139024" y="3680155"/>
            <a:ext cx="2251494" cy="11645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최적화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139024" y="2410424"/>
            <a:ext cx="2251494" cy="11645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목적 지향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139024" y="4949886"/>
            <a:ext cx="2251494" cy="11645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제약 사항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10644997" y="4046777"/>
            <a:ext cx="793630" cy="431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77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통계적 모델링</a:t>
            </a:r>
            <a:r>
              <a:rPr lang="en-US" altLang="ko-KR" sz="2400" dirty="0" smtClean="0"/>
              <a:t>, Statistical Modeling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173857" y="1509623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“</a:t>
            </a:r>
            <a:r>
              <a:rPr lang="ko-KR" altLang="en-US" sz="2000" dirty="0" smtClean="0"/>
              <a:t>데이터를 이용하는 통계 분석</a:t>
            </a:r>
            <a:r>
              <a:rPr lang="en-US" altLang="ko-KR" sz="2000" dirty="0" smtClean="0"/>
              <a:t>”</a:t>
            </a:r>
            <a:endParaRPr lang="ko-KR" altLang="en-US" sz="2000" dirty="0"/>
          </a:p>
        </p:txBody>
      </p:sp>
      <p:cxnSp>
        <p:nvCxnSpPr>
          <p:cNvPr id="8" name="꺾인 연결선 7"/>
          <p:cNvCxnSpPr>
            <a:endCxn id="6" idx="1"/>
          </p:cNvCxnSpPr>
          <p:nvPr/>
        </p:nvCxnSpPr>
        <p:spPr>
          <a:xfrm rot="16200000" flipH="1">
            <a:off x="1370776" y="906597"/>
            <a:ext cx="1002312" cy="603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048110" y="3680155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수학적 가정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8110" y="4922359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문제의 특성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11748" y="3680155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수학적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411748" y="4922359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가정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775386" y="4922359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775386" y="3680155"/>
            <a:ext cx="2251494" cy="11645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통계적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775386" y="2425671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시뮬레이션 모델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411748" y="2425671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시나리오 설정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48110" y="2437951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외적 및 내적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변화 요소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139024" y="3680155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최적화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139024" y="2410424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목적 지향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139024" y="4949886"/>
            <a:ext cx="2251494" cy="1164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제약 사항 모델링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10644997" y="4046777"/>
            <a:ext cx="793630" cy="431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72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인공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지능 </a:t>
            </a:r>
            <a:r>
              <a:rPr lang="en-US" altLang="ko-KR" sz="2400" dirty="0" smtClean="0"/>
              <a:t>Artificial Intelligence</a:t>
            </a:r>
            <a:r>
              <a:rPr lang="ko-KR" altLang="en-US" sz="2400" dirty="0" smtClean="0"/>
              <a:t>은 어떤 프로그램</a:t>
            </a:r>
            <a:r>
              <a:rPr lang="en-US" altLang="ko-KR" sz="2400" dirty="0" smtClean="0"/>
              <a:t>(Program) </a:t>
            </a:r>
            <a:r>
              <a:rPr lang="ko-KR" altLang="en-US" sz="2400" dirty="0" smtClean="0"/>
              <a:t>이다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8" name="직사각형 47"/>
          <p:cNvSpPr/>
          <p:nvPr/>
        </p:nvSpPr>
        <p:spPr>
          <a:xfrm>
            <a:off x="4766312" y="3205977"/>
            <a:ext cx="1911927" cy="803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컴퓨터 과학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algn="ctr"/>
            <a:r>
              <a:rPr lang="en-US" altLang="ko-KR" dirty="0" smtClean="0">
                <a:solidFill>
                  <a:srgbClr val="0000FF"/>
                </a:solidFill>
              </a:rPr>
              <a:t>(</a:t>
            </a:r>
            <a:r>
              <a:rPr lang="ko-KR" altLang="en-US" dirty="0" smtClean="0">
                <a:solidFill>
                  <a:srgbClr val="0000FF"/>
                </a:solidFill>
              </a:rPr>
              <a:t>人工的</a:t>
            </a:r>
            <a:r>
              <a:rPr lang="en-US" altLang="ko-KR" dirty="0" smtClean="0">
                <a:solidFill>
                  <a:srgbClr val="0000FF"/>
                </a:solidFill>
              </a:rPr>
              <a:t>)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766312" y="1977540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추론 능력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2392567" y="1977540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0000FF"/>
                </a:solidFill>
              </a:rPr>
              <a:t>학습 능력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40057" y="1977540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지각 능력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766312" y="4434414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인공 지능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140057" y="4430660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로봇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</a:p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자율 주행차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392566" y="4430660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기계</a:t>
            </a:r>
            <a:r>
              <a:rPr lang="en-US" altLang="ko-KR" dirty="0" smtClean="0">
                <a:solidFill>
                  <a:srgbClr val="0000FF"/>
                </a:solidFill>
              </a:rPr>
              <a:t>,</a:t>
            </a:r>
            <a:r>
              <a:rPr lang="ko-KR" altLang="en-US" dirty="0" smtClean="0">
                <a:solidFill>
                  <a:srgbClr val="0000FF"/>
                </a:solidFill>
              </a:rPr>
              <a:t> 장비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140057" y="3213336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머신 러닝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392566" y="3213336"/>
            <a:ext cx="1911927" cy="803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非머신 러닝</a:t>
            </a:r>
            <a:endParaRPr lang="ko-KR" altLang="en-US" dirty="0">
              <a:solidFill>
                <a:srgbClr val="0000FF"/>
              </a:solidFill>
            </a:endParaRPr>
          </a:p>
        </p:txBody>
      </p:sp>
      <p:cxnSp>
        <p:nvCxnSpPr>
          <p:cNvPr id="58" name="직선 화살표 연결선 57"/>
          <p:cNvCxnSpPr>
            <a:stCxn id="50" idx="3"/>
            <a:endCxn id="49" idx="1"/>
          </p:cNvCxnSpPr>
          <p:nvPr/>
        </p:nvCxnSpPr>
        <p:spPr>
          <a:xfrm>
            <a:off x="4304494" y="2379322"/>
            <a:ext cx="461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51" idx="1"/>
            <a:endCxn id="49" idx="3"/>
          </p:cNvCxnSpPr>
          <p:nvPr/>
        </p:nvCxnSpPr>
        <p:spPr>
          <a:xfrm flipH="1">
            <a:off x="6678239" y="2379322"/>
            <a:ext cx="461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49" idx="2"/>
            <a:endCxn id="48" idx="0"/>
          </p:cNvCxnSpPr>
          <p:nvPr/>
        </p:nvCxnSpPr>
        <p:spPr>
          <a:xfrm>
            <a:off x="5722276" y="2781104"/>
            <a:ext cx="0" cy="42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56" idx="3"/>
            <a:endCxn id="48" idx="1"/>
          </p:cNvCxnSpPr>
          <p:nvPr/>
        </p:nvCxnSpPr>
        <p:spPr>
          <a:xfrm flipV="1">
            <a:off x="4304493" y="3607759"/>
            <a:ext cx="461819" cy="7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55" idx="1"/>
            <a:endCxn id="48" idx="3"/>
          </p:cNvCxnSpPr>
          <p:nvPr/>
        </p:nvCxnSpPr>
        <p:spPr>
          <a:xfrm flipH="1" flipV="1">
            <a:off x="6678239" y="3607759"/>
            <a:ext cx="461818" cy="7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48" idx="2"/>
            <a:endCxn id="52" idx="0"/>
          </p:cNvCxnSpPr>
          <p:nvPr/>
        </p:nvCxnSpPr>
        <p:spPr>
          <a:xfrm>
            <a:off x="5722276" y="4009541"/>
            <a:ext cx="0" cy="424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52" idx="1"/>
            <a:endCxn id="54" idx="3"/>
          </p:cNvCxnSpPr>
          <p:nvPr/>
        </p:nvCxnSpPr>
        <p:spPr>
          <a:xfrm flipH="1" flipV="1">
            <a:off x="4304493" y="4832442"/>
            <a:ext cx="461819" cy="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52" idx="3"/>
            <a:endCxn id="53" idx="1"/>
          </p:cNvCxnSpPr>
          <p:nvPr/>
        </p:nvCxnSpPr>
        <p:spPr>
          <a:xfrm flipV="1">
            <a:off x="6678239" y="4832442"/>
            <a:ext cx="461818" cy="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19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Methods in AI</a:t>
            </a:r>
            <a:endParaRPr lang="ko-KR" altLang="en-US" sz="2400" dirty="0"/>
          </a:p>
        </p:txBody>
      </p:sp>
      <p:grpSp>
        <p:nvGrpSpPr>
          <p:cNvPr id="6" name="그룹 5"/>
          <p:cNvGrpSpPr/>
          <p:nvPr/>
        </p:nvGrpSpPr>
        <p:grpSpPr>
          <a:xfrm>
            <a:off x="1273834" y="940279"/>
            <a:ext cx="9644332" cy="5520906"/>
            <a:chOff x="1130060" y="1337094"/>
            <a:chExt cx="9644332" cy="5520906"/>
          </a:xfrm>
        </p:grpSpPr>
        <p:sp>
          <p:nvSpPr>
            <p:cNvPr id="3" name="구름 2"/>
            <p:cNvSpPr/>
            <p:nvPr/>
          </p:nvSpPr>
          <p:spPr>
            <a:xfrm>
              <a:off x="1130060" y="1337094"/>
              <a:ext cx="9644332" cy="5520906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8924" y="2311879"/>
              <a:ext cx="6441797" cy="3329797"/>
            </a:xfrm>
            <a:prstGeom prst="rect">
              <a:avLst/>
            </a:prstGeom>
          </p:spPr>
        </p:pic>
      </p:grpSp>
      <p:cxnSp>
        <p:nvCxnSpPr>
          <p:cNvPr id="8" name="직선 연결선 7"/>
          <p:cNvCxnSpPr/>
          <p:nvPr/>
        </p:nvCxnSpPr>
        <p:spPr>
          <a:xfrm>
            <a:off x="3129733" y="2406770"/>
            <a:ext cx="18900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294300" y="4304581"/>
            <a:ext cx="12266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052095" y="3916393"/>
            <a:ext cx="124220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7037499" y="3321169"/>
            <a:ext cx="12266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02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두 가지 </a:t>
            </a:r>
            <a:r>
              <a:rPr lang="en-US" altLang="ko-KR" sz="2400" dirty="0" smtClean="0"/>
              <a:t>AI</a:t>
            </a:r>
            <a:endParaRPr lang="ko-KR" altLang="en-US" sz="2400" dirty="0"/>
          </a:p>
        </p:txBody>
      </p:sp>
      <p:sp>
        <p:nvSpPr>
          <p:cNvPr id="2" name="타원 1"/>
          <p:cNvSpPr/>
          <p:nvPr/>
        </p:nvSpPr>
        <p:spPr>
          <a:xfrm>
            <a:off x="4270076" y="2122098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9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두 가지 </a:t>
            </a:r>
            <a:r>
              <a:rPr lang="en-US" altLang="ko-KR" sz="2400" dirty="0" smtClean="0"/>
              <a:t>AI</a:t>
            </a:r>
            <a:endParaRPr lang="ko-KR" altLang="en-US" sz="2400" dirty="0"/>
          </a:p>
        </p:txBody>
      </p:sp>
      <p:sp>
        <p:nvSpPr>
          <p:cNvPr id="3" name="구름 2"/>
          <p:cNvSpPr/>
          <p:nvPr/>
        </p:nvSpPr>
        <p:spPr>
          <a:xfrm>
            <a:off x="562155" y="1207698"/>
            <a:ext cx="4842295" cy="244990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내적</a:t>
            </a:r>
            <a:r>
              <a:rPr lang="en-US" altLang="ko-KR" dirty="0" smtClean="0">
                <a:solidFill>
                  <a:srgbClr val="003399"/>
                </a:solidFill>
              </a:rPr>
              <a:t>(internal)</a:t>
            </a:r>
          </a:p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논리 기반의 접근</a:t>
            </a:r>
            <a:r>
              <a:rPr lang="ko-KR" altLang="en-US" dirty="0">
                <a:solidFill>
                  <a:srgbClr val="003399"/>
                </a:solidFill>
              </a:rPr>
              <a:t>법</a:t>
            </a:r>
            <a:endParaRPr lang="en-US" altLang="ko-KR" dirty="0" smtClean="0">
              <a:solidFill>
                <a:srgbClr val="003399"/>
              </a:solidFill>
            </a:endParaRPr>
          </a:p>
          <a:p>
            <a:pPr algn="ctr"/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내부에서 만들어 내는 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작동 과정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메커니즘을 기반으로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4986068" y="3899139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99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두 가지 </a:t>
            </a:r>
            <a:r>
              <a:rPr lang="en-US" altLang="ko-KR" sz="2400" dirty="0" smtClean="0"/>
              <a:t>AI</a:t>
            </a:r>
            <a:endParaRPr lang="ko-KR" altLang="en-US" sz="2400" dirty="0"/>
          </a:p>
        </p:txBody>
      </p:sp>
      <p:sp>
        <p:nvSpPr>
          <p:cNvPr id="3" name="구름 2"/>
          <p:cNvSpPr/>
          <p:nvPr/>
        </p:nvSpPr>
        <p:spPr>
          <a:xfrm>
            <a:off x="562155" y="1207698"/>
            <a:ext cx="4842295" cy="244990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내적</a:t>
            </a:r>
            <a:r>
              <a:rPr lang="en-US" altLang="ko-KR" dirty="0" smtClean="0">
                <a:solidFill>
                  <a:srgbClr val="003399"/>
                </a:solidFill>
              </a:rPr>
              <a:t>(internal)</a:t>
            </a:r>
          </a:p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논리 기반의 접근</a:t>
            </a:r>
            <a:r>
              <a:rPr lang="ko-KR" altLang="en-US" dirty="0">
                <a:solidFill>
                  <a:srgbClr val="003399"/>
                </a:solidFill>
              </a:rPr>
              <a:t>법</a:t>
            </a:r>
            <a:endParaRPr lang="en-US" altLang="ko-KR" dirty="0" smtClean="0">
              <a:solidFill>
                <a:srgbClr val="003399"/>
              </a:solidFill>
            </a:endParaRPr>
          </a:p>
          <a:p>
            <a:pPr algn="ctr"/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내부에서 만들어 내는 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작동 과정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메커니즘을 기반으로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4891178" y="3916392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17" name="꺾인 연결선 16"/>
          <p:cNvCxnSpPr>
            <a:stCxn id="3" idx="1"/>
            <a:endCxn id="2" idx="2"/>
          </p:cNvCxnSpPr>
          <p:nvPr/>
        </p:nvCxnSpPr>
        <p:spPr>
          <a:xfrm rot="16200000" flipH="1">
            <a:off x="3340713" y="3297580"/>
            <a:ext cx="1193054" cy="1907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2" idx="0"/>
            <a:endCxn id="3" idx="0"/>
          </p:cNvCxnSpPr>
          <p:nvPr/>
        </p:nvCxnSpPr>
        <p:spPr>
          <a:xfrm rot="16200000" flipV="1">
            <a:off x="5076786" y="2756279"/>
            <a:ext cx="1483743" cy="8364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16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두 가지 </a:t>
            </a:r>
            <a:r>
              <a:rPr lang="en-US" altLang="ko-KR" sz="2400" dirty="0" smtClean="0"/>
              <a:t>AI</a:t>
            </a:r>
            <a:endParaRPr lang="ko-KR" altLang="en-US" sz="2400" dirty="0"/>
          </a:p>
        </p:txBody>
      </p:sp>
      <p:sp>
        <p:nvSpPr>
          <p:cNvPr id="10" name="구름 9"/>
          <p:cNvSpPr/>
          <p:nvPr/>
        </p:nvSpPr>
        <p:spPr>
          <a:xfrm>
            <a:off x="6268527" y="1207698"/>
            <a:ext cx="4842295" cy="244990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외적</a:t>
            </a:r>
            <a:r>
              <a:rPr lang="en-US" altLang="ko-KR" dirty="0" smtClean="0">
                <a:solidFill>
                  <a:srgbClr val="003399"/>
                </a:solidFill>
              </a:rPr>
              <a:t>(external)</a:t>
            </a:r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데이터 기반의 접근법</a:t>
            </a:r>
            <a:endParaRPr lang="en-US" altLang="ko-KR" dirty="0" smtClean="0">
              <a:solidFill>
                <a:srgbClr val="003399"/>
              </a:solidFill>
            </a:endParaRPr>
          </a:p>
          <a:p>
            <a:pPr algn="ctr"/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외부로 드러난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결과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사실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자료를 기반으로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4295955" y="3916392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52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두 가지 </a:t>
            </a:r>
            <a:r>
              <a:rPr lang="en-US" altLang="ko-KR" sz="2400" dirty="0" smtClean="0"/>
              <a:t>AI</a:t>
            </a:r>
            <a:endParaRPr lang="ko-KR" altLang="en-US" sz="2400" dirty="0"/>
          </a:p>
        </p:txBody>
      </p:sp>
      <p:sp>
        <p:nvSpPr>
          <p:cNvPr id="10" name="구름 9"/>
          <p:cNvSpPr/>
          <p:nvPr/>
        </p:nvSpPr>
        <p:spPr>
          <a:xfrm>
            <a:off x="6511505" y="1205089"/>
            <a:ext cx="4842295" cy="244990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외적</a:t>
            </a:r>
            <a:r>
              <a:rPr lang="en-US" altLang="ko-KR" dirty="0" smtClean="0">
                <a:solidFill>
                  <a:srgbClr val="003399"/>
                </a:solidFill>
              </a:rPr>
              <a:t>(external)</a:t>
            </a:r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데이터 기반의 접근법</a:t>
            </a:r>
            <a:endParaRPr lang="en-US" altLang="ko-KR" dirty="0" smtClean="0">
              <a:solidFill>
                <a:srgbClr val="003399"/>
              </a:solidFill>
            </a:endParaRPr>
          </a:p>
          <a:p>
            <a:pPr algn="ctr"/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외부로 드러난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결과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사실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자료를 기반으로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4295955" y="3916392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19" name="꺾인 연결선 18"/>
          <p:cNvCxnSpPr>
            <a:stCxn id="10" idx="1"/>
            <a:endCxn id="2" idx="6"/>
          </p:cNvCxnSpPr>
          <p:nvPr/>
        </p:nvCxnSpPr>
        <p:spPr>
          <a:xfrm rot="5400000">
            <a:off x="7362194" y="3277585"/>
            <a:ext cx="1195663" cy="19452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>
            <a:stCxn id="2" idx="0"/>
            <a:endCxn id="10" idx="2"/>
          </p:cNvCxnSpPr>
          <p:nvPr/>
        </p:nvCxnSpPr>
        <p:spPr>
          <a:xfrm rot="5400000" flipH="1" flipV="1">
            <a:off x="5340924" y="2730792"/>
            <a:ext cx="1486352" cy="8848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63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두 가지 </a:t>
            </a:r>
            <a:r>
              <a:rPr lang="en-US" altLang="ko-KR" sz="2400" dirty="0" smtClean="0"/>
              <a:t>AI</a:t>
            </a:r>
            <a:endParaRPr lang="ko-KR" altLang="en-US" sz="2400" dirty="0"/>
          </a:p>
        </p:txBody>
      </p:sp>
      <p:sp>
        <p:nvSpPr>
          <p:cNvPr id="3" name="구름 2"/>
          <p:cNvSpPr/>
          <p:nvPr/>
        </p:nvSpPr>
        <p:spPr>
          <a:xfrm>
            <a:off x="562155" y="1207698"/>
            <a:ext cx="4842295" cy="244990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내적</a:t>
            </a:r>
            <a:r>
              <a:rPr lang="en-US" altLang="ko-KR" dirty="0" smtClean="0">
                <a:solidFill>
                  <a:srgbClr val="003399"/>
                </a:solidFill>
              </a:rPr>
              <a:t>(internal)</a:t>
            </a:r>
          </a:p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논리 기반의 접근</a:t>
            </a:r>
            <a:r>
              <a:rPr lang="ko-KR" altLang="en-US" dirty="0">
                <a:solidFill>
                  <a:srgbClr val="003399"/>
                </a:solidFill>
              </a:rPr>
              <a:t>법</a:t>
            </a:r>
            <a:endParaRPr lang="en-US" altLang="ko-KR" dirty="0" smtClean="0">
              <a:solidFill>
                <a:srgbClr val="003399"/>
              </a:solidFill>
            </a:endParaRPr>
          </a:p>
          <a:p>
            <a:pPr algn="ctr"/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내부에서 만들어 내는 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작동 과정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메커니즘을 기반으로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구름 9"/>
          <p:cNvSpPr/>
          <p:nvPr/>
        </p:nvSpPr>
        <p:spPr>
          <a:xfrm>
            <a:off x="6960079" y="1207698"/>
            <a:ext cx="4842295" cy="2449902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외적</a:t>
            </a:r>
            <a:r>
              <a:rPr lang="en-US" altLang="ko-KR" dirty="0" smtClean="0">
                <a:solidFill>
                  <a:srgbClr val="003399"/>
                </a:solidFill>
              </a:rPr>
              <a:t>(external)</a:t>
            </a:r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003399"/>
                </a:solidFill>
              </a:rPr>
              <a:t>데이터 기반의 접근법</a:t>
            </a:r>
            <a:endParaRPr lang="en-US" altLang="ko-KR" dirty="0" smtClean="0">
              <a:solidFill>
                <a:srgbClr val="003399"/>
              </a:solidFill>
            </a:endParaRPr>
          </a:p>
          <a:p>
            <a:pPr algn="ctr"/>
            <a:endParaRPr lang="en-US" altLang="ko-KR" dirty="0">
              <a:solidFill>
                <a:srgbClr val="003399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외부로 드러난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결과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사실</a:t>
            </a:r>
            <a:r>
              <a:rPr lang="en-US" altLang="ko-KR" sz="1600" dirty="0" smtClean="0">
                <a:solidFill>
                  <a:schemeClr val="tx1"/>
                </a:solidFill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</a:rPr>
              <a:t>자료를 기반으로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4850203" y="3916392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17" name="꺾인 연결선 16"/>
          <p:cNvCxnSpPr>
            <a:stCxn id="3" idx="1"/>
            <a:endCxn id="2" idx="2"/>
          </p:cNvCxnSpPr>
          <p:nvPr/>
        </p:nvCxnSpPr>
        <p:spPr>
          <a:xfrm rot="16200000" flipH="1">
            <a:off x="3320226" y="3318068"/>
            <a:ext cx="1193054" cy="18669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10" idx="1"/>
            <a:endCxn id="2" idx="6"/>
          </p:cNvCxnSpPr>
          <p:nvPr/>
        </p:nvCxnSpPr>
        <p:spPr>
          <a:xfrm rot="5400000">
            <a:off x="7864909" y="3331727"/>
            <a:ext cx="1193054" cy="18395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2" idx="0"/>
            <a:endCxn id="3" idx="0"/>
          </p:cNvCxnSpPr>
          <p:nvPr/>
        </p:nvCxnSpPr>
        <p:spPr>
          <a:xfrm rot="16200000" flipV="1">
            <a:off x="5056299" y="2776766"/>
            <a:ext cx="1483743" cy="7955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" idx="0"/>
            <a:endCxn id="10" idx="2"/>
          </p:cNvCxnSpPr>
          <p:nvPr/>
        </p:nvCxnSpPr>
        <p:spPr>
          <a:xfrm rot="5400000" flipH="1" flipV="1">
            <a:off x="5843640" y="2784934"/>
            <a:ext cx="1483743" cy="779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8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89285" y="1066505"/>
            <a:ext cx="6060056" cy="4416725"/>
          </a:xfrm>
          <a:prstGeom prst="ellipse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미지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未知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세계를 알아내는 </a:t>
            </a:r>
            <a:r>
              <a:rPr lang="ko-KR" altLang="en-US" sz="2400" dirty="0"/>
              <a:t>그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외의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방법</a:t>
            </a:r>
            <a:endParaRPr lang="ko-KR" altLang="en-US" sz="2400" dirty="0"/>
          </a:p>
        </p:txBody>
      </p:sp>
      <p:sp>
        <p:nvSpPr>
          <p:cNvPr id="2" name="타원 1"/>
          <p:cNvSpPr/>
          <p:nvPr/>
        </p:nvSpPr>
        <p:spPr>
          <a:xfrm>
            <a:off x="4270076" y="2122098"/>
            <a:ext cx="2691441" cy="18633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b="1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altLang="ko-KR" sz="2400" b="1" dirty="0" smtClean="0">
                <a:solidFill>
                  <a:schemeClr val="tx1"/>
                </a:solidFill>
              </a:rPr>
              <a:t>?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1810110" y="3985404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?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7063236" y="4132054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?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7722079" y="1190445"/>
            <a:ext cx="2691441" cy="186330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chemeClr val="tx1"/>
                </a:solidFill>
              </a:rPr>
              <a:t>시스템 </a:t>
            </a:r>
            <a:r>
              <a:rPr lang="en-US" altLang="ko-KR" sz="24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?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6961517" y="2518913"/>
            <a:ext cx="845389" cy="34505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6600286" y="3709359"/>
            <a:ext cx="836762" cy="69874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2" idx="3"/>
            <a:endCxn id="5" idx="7"/>
          </p:cNvCxnSpPr>
          <p:nvPr/>
        </p:nvCxnSpPr>
        <p:spPr>
          <a:xfrm flipH="1">
            <a:off x="4107399" y="3712529"/>
            <a:ext cx="556829" cy="54575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9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AI / Machine Learning / Generative AI / Large Language Model (LLM)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5142905" y="6538912"/>
            <a:ext cx="162095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 dirty="0"/>
              <a:t>https://www.shaip.com/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530417" y="1123272"/>
            <a:ext cx="9336506" cy="5085998"/>
            <a:chOff x="1771049" y="1097280"/>
            <a:chExt cx="9336506" cy="5085998"/>
          </a:xfrm>
        </p:grpSpPr>
        <p:sp>
          <p:nvSpPr>
            <p:cNvPr id="6" name="직사각형 5"/>
            <p:cNvSpPr/>
            <p:nvPr/>
          </p:nvSpPr>
          <p:spPr>
            <a:xfrm>
              <a:off x="1771049" y="1097280"/>
              <a:ext cx="9336505" cy="5085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2000" dirty="0" smtClean="0">
                  <a:solidFill>
                    <a:srgbClr val="0000FF"/>
                  </a:solidFill>
                </a:rPr>
                <a:t>AI : Artificial Intelligence : </a:t>
              </a:r>
              <a:r>
                <a:rPr lang="ko-KR" altLang="en-US" sz="2000" dirty="0" smtClean="0">
                  <a:solidFill>
                    <a:srgbClr val="C00000"/>
                  </a:solidFill>
                </a:rPr>
                <a:t>인간을 모방하는 </a:t>
              </a:r>
              <a:r>
                <a:rPr lang="en-US" altLang="ko-KR" sz="2000" dirty="0" smtClean="0">
                  <a:solidFill>
                    <a:srgbClr val="FF0000"/>
                  </a:solidFill>
                </a:rPr>
                <a:t>Intelligent machines</a:t>
              </a:r>
              <a:endParaRPr lang="ko-KR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637322" y="1917694"/>
              <a:ext cx="8470232" cy="42655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2000" dirty="0" smtClean="0">
                  <a:solidFill>
                    <a:srgbClr val="0000FF"/>
                  </a:solidFill>
                </a:rPr>
                <a:t>ML : Machine Learning : </a:t>
              </a:r>
              <a:r>
                <a:rPr lang="en-US" altLang="ko-KR" sz="2000" dirty="0" smtClean="0">
                  <a:solidFill>
                    <a:srgbClr val="FF0000"/>
                  </a:solidFill>
                </a:rPr>
                <a:t>Learning from Data </a:t>
              </a:r>
              <a:r>
                <a:rPr lang="ko-KR" altLang="en-US" sz="2000" dirty="0" smtClean="0">
                  <a:solidFill>
                    <a:srgbClr val="FF0000"/>
                  </a:solidFill>
                </a:rPr>
                <a:t>데이터를 기반</a:t>
              </a:r>
              <a:endParaRPr lang="en-US" altLang="ko-KR" sz="2000" dirty="0" smtClean="0">
                <a:solidFill>
                  <a:srgbClr val="FF0000"/>
                </a:solidFill>
              </a:endParaRPr>
            </a:p>
            <a:p>
              <a:pPr algn="ctr"/>
              <a:r>
                <a:rPr lang="en-US" altLang="ko-KR" sz="2000" dirty="0" smtClean="0">
                  <a:solidFill>
                    <a:srgbClr val="002060"/>
                  </a:solidFill>
                </a:rPr>
                <a:t>(</a:t>
              </a:r>
              <a:r>
                <a:rPr lang="ko-KR" altLang="en-US" sz="2000" dirty="0" smtClean="0">
                  <a:solidFill>
                    <a:srgbClr val="002060"/>
                  </a:solidFill>
                </a:rPr>
                <a:t>전통적인 프로그램 개발</a:t>
              </a:r>
              <a:r>
                <a:rPr lang="en-US" altLang="ko-KR" sz="2000" dirty="0" smtClean="0">
                  <a:solidFill>
                    <a:srgbClr val="002060"/>
                  </a:solidFill>
                </a:rPr>
                <a:t>, explicit programming</a:t>
              </a:r>
              <a:r>
                <a:rPr lang="ko-KR" altLang="en-US" sz="2000" dirty="0" smtClean="0">
                  <a:solidFill>
                    <a:srgbClr val="002060"/>
                  </a:solidFill>
                </a:rPr>
                <a:t>을 하지 않아도 됨</a:t>
              </a:r>
              <a:r>
                <a:rPr lang="en-US" altLang="ko-KR" sz="2000" dirty="0" smtClean="0">
                  <a:solidFill>
                    <a:srgbClr val="002060"/>
                  </a:solidFill>
                </a:rPr>
                <a:t>)</a:t>
              </a:r>
              <a:endParaRPr lang="ko-KR" altLang="en-US" sz="2000" dirty="0">
                <a:solidFill>
                  <a:srgbClr val="002060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638351" y="2920314"/>
              <a:ext cx="7469204" cy="32629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2000" dirty="0" smtClean="0">
                  <a:solidFill>
                    <a:srgbClr val="0000FF"/>
                  </a:solidFill>
                </a:rPr>
                <a:t>LLM : Large Language Model : </a:t>
              </a:r>
              <a:r>
                <a:rPr lang="ko-KR" altLang="en-US" sz="2000" dirty="0" smtClean="0">
                  <a:solidFill>
                    <a:srgbClr val="FF0000"/>
                  </a:solidFill>
                </a:rPr>
                <a:t>언어</a:t>
              </a:r>
              <a:r>
                <a:rPr lang="en-US" altLang="ko-KR" sz="2000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2000" dirty="0" smtClean="0">
                  <a:solidFill>
                    <a:srgbClr val="FF0000"/>
                  </a:solidFill>
                </a:rPr>
                <a:t>기능 모델</a:t>
              </a:r>
              <a:endParaRPr lang="ko-KR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572000" y="3690334"/>
              <a:ext cx="6535555" cy="24929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2000" dirty="0" smtClean="0">
                  <a:solidFill>
                    <a:srgbClr val="0000FF"/>
                  </a:solidFill>
                </a:rPr>
                <a:t>Generative AI : </a:t>
              </a:r>
              <a:r>
                <a:rPr lang="ko-KR" altLang="en-US" sz="2000" dirty="0" smtClean="0">
                  <a:solidFill>
                    <a:srgbClr val="FF0000"/>
                  </a:solidFill>
                </a:rPr>
                <a:t>새로운 언어나 이미지 </a:t>
              </a:r>
              <a:r>
                <a:rPr lang="ko-KR" altLang="en-US" sz="2000" u="sng" dirty="0" smtClean="0">
                  <a:solidFill>
                    <a:srgbClr val="FF0000"/>
                  </a:solidFill>
                </a:rPr>
                <a:t>생성</a:t>
              </a:r>
              <a:r>
                <a:rPr lang="ko-KR" altLang="en-US" sz="2000" dirty="0" smtClean="0">
                  <a:solidFill>
                    <a:srgbClr val="FF0000"/>
                  </a:solidFill>
                </a:rPr>
                <a:t> 모델</a:t>
              </a:r>
              <a:endParaRPr lang="ko-KR" altLang="en-US" sz="2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480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머신 러닝 </a:t>
            </a:r>
            <a:r>
              <a:rPr lang="en-US" altLang="ko-KR" sz="2400" dirty="0" smtClean="0"/>
              <a:t>Machine Learning</a:t>
            </a:r>
            <a:endParaRPr lang="ko-KR" altLang="en-US" sz="2400" dirty="0"/>
          </a:p>
        </p:txBody>
      </p:sp>
      <p:sp>
        <p:nvSpPr>
          <p:cNvPr id="3" name="구름 2"/>
          <p:cNvSpPr/>
          <p:nvPr/>
        </p:nvSpPr>
        <p:spPr>
          <a:xfrm>
            <a:off x="2424021" y="3092569"/>
            <a:ext cx="1466491" cy="914400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0000FF"/>
                </a:solidFill>
              </a:rPr>
              <a:t>데이터</a:t>
            </a:r>
            <a:endParaRPr lang="ko-KR" altLang="en-US">
              <a:solidFill>
                <a:srgbClr val="0000FF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904116" y="3079629"/>
            <a:ext cx="1682151" cy="940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패턴 탐색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7599871" y="3105509"/>
            <a:ext cx="1475117" cy="8885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예측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분석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/>
          <p:cNvCxnSpPr>
            <a:stCxn id="3" idx="0"/>
            <a:endCxn id="14" idx="1"/>
          </p:cNvCxnSpPr>
          <p:nvPr/>
        </p:nvCxnSpPr>
        <p:spPr>
          <a:xfrm>
            <a:off x="3889290" y="3549769"/>
            <a:ext cx="1014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14" idx="3"/>
            <a:endCxn id="16" idx="2"/>
          </p:cNvCxnSpPr>
          <p:nvPr/>
        </p:nvCxnSpPr>
        <p:spPr>
          <a:xfrm>
            <a:off x="6586267" y="3549769"/>
            <a:ext cx="10136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4904115" y="1509621"/>
            <a:ext cx="1682151" cy="940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자동으로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성능개선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/>
          <p:cNvCxnSpPr>
            <a:stCxn id="34" idx="2"/>
            <a:endCxn id="14" idx="0"/>
          </p:cNvCxnSpPr>
          <p:nvPr/>
        </p:nvCxnSpPr>
        <p:spPr>
          <a:xfrm>
            <a:off x="5745191" y="2449900"/>
            <a:ext cx="1" cy="629729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04115" y="4239577"/>
            <a:ext cx="1709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00FF"/>
                </a:solidFill>
              </a:rPr>
              <a:t>지도 학습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00FF"/>
                </a:solidFill>
              </a:rPr>
              <a:t>비지도 학습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solidFill>
                  <a:srgbClr val="0000FF"/>
                </a:solidFill>
              </a:rPr>
              <a:t>강화 학습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61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387927" y="365125"/>
            <a:ext cx="10965873" cy="428505"/>
          </a:xfrm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(1) </a:t>
            </a:r>
            <a:r>
              <a:rPr lang="ko-KR" altLang="en-US" sz="2400" dirty="0" smtClean="0"/>
              <a:t>지도 학습 </a:t>
            </a:r>
            <a:r>
              <a:rPr lang="en-US" altLang="ko-KR" sz="2400" dirty="0" smtClean="0"/>
              <a:t>Supervised Learning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  </a:t>
            </a:r>
            <a:r>
              <a:rPr lang="en-US" altLang="ko-KR" sz="2400" dirty="0" smtClean="0"/>
              <a:t>(2)</a:t>
            </a:r>
            <a:r>
              <a:rPr lang="ko-KR" altLang="en-US" sz="2400" dirty="0" smtClean="0"/>
              <a:t> 비지도 학습 </a:t>
            </a:r>
            <a:r>
              <a:rPr lang="en-US" altLang="ko-KR" sz="2400" dirty="0" smtClean="0"/>
              <a:t>Unsupervised Learning</a:t>
            </a:r>
            <a:endParaRPr lang="ko-KR" altLang="en-US" sz="24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5366327" y="365125"/>
            <a:ext cx="0" cy="6201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10991" y="1320678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라벨이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지정된 데이터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096000" y="1283855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라벨이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지정되지 않은 데이터</a:t>
            </a:r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2210991" y="1847726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Labelled Data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054436" y="3307587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숨겨진 패턴을 발견하고 학습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2478846" y="85407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rgbClr val="C00000"/>
                </a:solidFill>
              </a:rPr>
              <a:t>지도 학습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64060" y="81725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C00000"/>
                </a:solidFill>
              </a:rPr>
              <a:t>비지도 학습</a:t>
            </a:r>
            <a:endParaRPr lang="ko-KR" altLang="en-US" dirty="0">
              <a:solidFill>
                <a:srgbClr val="C00000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609600" y="1186586"/>
            <a:ext cx="10889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651163" y="1712814"/>
            <a:ext cx="10889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651162" y="2327894"/>
            <a:ext cx="10889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1163" y="2461985"/>
            <a:ext cx="4493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라벨 데이터를 활용해 훈련 데이터로부터</a:t>
            </a:r>
            <a:endParaRPr lang="en-US" altLang="ko-KR" dirty="0" smtClean="0"/>
          </a:p>
          <a:p>
            <a:r>
              <a:rPr lang="ko-KR" altLang="en-US" dirty="0" smtClean="0"/>
              <a:t>프로그램을 학습시켜서</a:t>
            </a:r>
            <a:endParaRPr lang="ko-KR" altLang="en-US" dirty="0"/>
          </a:p>
        </p:txBody>
      </p:sp>
      <p:cxnSp>
        <p:nvCxnSpPr>
          <p:cNvPr id="55" name="직선 연결선 54"/>
          <p:cNvCxnSpPr/>
          <p:nvPr/>
        </p:nvCxnSpPr>
        <p:spPr>
          <a:xfrm>
            <a:off x="609600" y="3182298"/>
            <a:ext cx="10889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210991" y="3267488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예측과 분류</a:t>
            </a:r>
            <a:endParaRPr lang="ko-KR" altLang="en-US" dirty="0"/>
          </a:p>
        </p:txBody>
      </p:sp>
      <p:cxnSp>
        <p:nvCxnSpPr>
          <p:cNvPr id="58" name="직선 연결선 57"/>
          <p:cNvCxnSpPr/>
          <p:nvPr/>
        </p:nvCxnSpPr>
        <p:spPr>
          <a:xfrm>
            <a:off x="651162" y="3747656"/>
            <a:ext cx="10889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57211" y="3763822"/>
            <a:ext cx="44934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훈련 데이터 필요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정답 데이터 필요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이를 이용하여</a:t>
            </a:r>
            <a:endParaRPr lang="en-US" altLang="ko-KR" dirty="0"/>
          </a:p>
          <a:p>
            <a:r>
              <a:rPr lang="ko-KR" altLang="en-US" dirty="0" smtClean="0">
                <a:solidFill>
                  <a:srgbClr val="FF0000"/>
                </a:solidFill>
              </a:rPr>
              <a:t>프로그램</a:t>
            </a:r>
            <a:r>
              <a:rPr lang="ko-KR" altLang="en-US" dirty="0" smtClean="0"/>
              <a:t>을 학습시킴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검증 데이터를 이용하여 모델이 잘 학습 되었는지를 </a:t>
            </a:r>
            <a:r>
              <a:rPr lang="ko-KR" altLang="en-US" dirty="0" smtClean="0">
                <a:solidFill>
                  <a:srgbClr val="FF0000"/>
                </a:solidFill>
              </a:rPr>
              <a:t>모델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프로그램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ko-KR" altLang="en-US" dirty="0" smtClean="0"/>
              <a:t>을 통하여 검증하는 과정을 거친다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>
                <a:solidFill>
                  <a:srgbClr val="0000FF"/>
                </a:solidFill>
              </a:rPr>
              <a:t>분류 작업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회귀 작업</a:t>
            </a:r>
            <a:endParaRPr lang="ko-KR" altLang="en-US" dirty="0">
              <a:solidFill>
                <a:srgbClr val="0000FF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651162" y="4994565"/>
            <a:ext cx="10889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334677" y="3931468"/>
            <a:ext cx="4896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0000FF"/>
                </a:solidFill>
              </a:rPr>
              <a:t>(</a:t>
            </a:r>
            <a:r>
              <a:rPr lang="ko-KR" altLang="en-US" dirty="0" smtClean="0">
                <a:solidFill>
                  <a:srgbClr val="0000FF"/>
                </a:solidFill>
              </a:rPr>
              <a:t>만약 지도 학습을 위하여 데이터 </a:t>
            </a:r>
            <a:r>
              <a:rPr lang="en-US" altLang="ko-KR" dirty="0" smtClean="0">
                <a:solidFill>
                  <a:srgbClr val="0000FF"/>
                </a:solidFill>
              </a:rPr>
              <a:t>Labelling</a:t>
            </a:r>
            <a:r>
              <a:rPr lang="ko-KR" altLang="en-US" dirty="0" smtClean="0">
                <a:solidFill>
                  <a:srgbClr val="0000FF"/>
                </a:solidFill>
              </a:rPr>
              <a:t>을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해야 하는데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그 비용과 노력이 어렵다면 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r>
              <a:rPr lang="ko-KR" altLang="en-US" dirty="0" smtClean="0">
                <a:solidFill>
                  <a:srgbClr val="0000FF"/>
                </a:solidFill>
              </a:rPr>
              <a:t>비지도 학습 방법을 이용하여야 한다</a:t>
            </a:r>
            <a:r>
              <a:rPr lang="en-US" altLang="ko-KR" dirty="0" smtClean="0">
                <a:solidFill>
                  <a:srgbClr val="0000FF"/>
                </a:solidFill>
              </a:rPr>
              <a:t>) 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3417" y="1709226"/>
            <a:ext cx="567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라벨이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지정되지 않은 데이터 </a:t>
            </a:r>
            <a:r>
              <a:rPr lang="en-US" altLang="ko-KR" dirty="0" smtClean="0"/>
              <a:t>+</a:t>
            </a:r>
          </a:p>
          <a:p>
            <a:r>
              <a:rPr lang="ko-KR" altLang="en-US" dirty="0" smtClean="0"/>
              <a:t>정답이 없는 데이터 </a:t>
            </a:r>
            <a:r>
              <a:rPr lang="en-US" altLang="ko-KR" dirty="0" smtClean="0"/>
              <a:t>(Un-labelled Data)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063417" y="2458252"/>
            <a:ext cx="567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숨은 패턴을 찾아내거나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데이터를 그룹화 하는 </a:t>
            </a:r>
            <a:endParaRPr lang="en-US" altLang="ko-KR" dirty="0" smtClean="0"/>
          </a:p>
          <a:p>
            <a:r>
              <a:rPr lang="ko-KR" altLang="en-US" dirty="0" smtClean="0"/>
              <a:t>알고리즘을 찾는다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947484" y="5312921"/>
            <a:ext cx="567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데이터 간의 유사성이나 차이점을 이용한다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방법으로는 차원 축소</a:t>
            </a:r>
            <a:r>
              <a:rPr lang="en-US" altLang="ko-KR" dirty="0" smtClean="0"/>
              <a:t>(PCA), </a:t>
            </a:r>
            <a:r>
              <a:rPr lang="ko-KR" altLang="en-US" dirty="0" smtClean="0"/>
              <a:t>군집 등이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68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(3) </a:t>
            </a:r>
            <a:r>
              <a:rPr lang="ko-KR" altLang="en-US" sz="2400" dirty="0" smtClean="0">
                <a:solidFill>
                  <a:srgbClr val="0000FF"/>
                </a:solidFill>
              </a:rPr>
              <a:t>강화 학습 </a:t>
            </a:r>
            <a:r>
              <a:rPr lang="en-US" altLang="ko-KR" sz="2400" dirty="0" smtClean="0">
                <a:solidFill>
                  <a:srgbClr val="0000FF"/>
                </a:solidFill>
              </a:rPr>
              <a:t>Reinforcing Learning</a:t>
            </a:r>
            <a:endParaRPr lang="ko-KR" altLang="en-US" sz="2400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27867" y="1300060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C00000"/>
                </a:solidFill>
              </a:rPr>
              <a:t>강화 학습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1959322"/>
            <a:ext cx="3876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시행 착오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보상 기능을 통하여 학습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701964" y="1791854"/>
            <a:ext cx="10963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200" y="2667616"/>
            <a:ext cx="95724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FF"/>
                </a:solidFill>
              </a:rPr>
              <a:t>Labeled Data</a:t>
            </a:r>
            <a:r>
              <a:rPr lang="ko-KR" altLang="en-US" dirty="0" smtClean="0">
                <a:solidFill>
                  <a:srgbClr val="0000FF"/>
                </a:solidFill>
              </a:rPr>
              <a:t>와 같은 정답</a:t>
            </a: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데이터 없이</a:t>
            </a:r>
            <a:r>
              <a:rPr lang="en-US" altLang="ko-KR" dirty="0" smtClean="0">
                <a:solidFill>
                  <a:srgbClr val="0000FF"/>
                </a:solidFill>
              </a:rPr>
              <a:t>,</a:t>
            </a:r>
          </a:p>
          <a:p>
            <a:r>
              <a:rPr lang="ko-KR" altLang="en-US" dirty="0" smtClean="0"/>
              <a:t>환경</a:t>
            </a:r>
            <a:r>
              <a:rPr lang="en-US" altLang="ko-KR" dirty="0" smtClean="0"/>
              <a:t>(Environment)</a:t>
            </a:r>
            <a:r>
              <a:rPr lang="ko-KR" altLang="en-US" dirty="0" smtClean="0"/>
              <a:t>과 상호작용</a:t>
            </a:r>
            <a:r>
              <a:rPr lang="en-US" altLang="ko-KR" dirty="0" smtClean="0"/>
              <a:t>(interaction)</a:t>
            </a:r>
            <a:r>
              <a:rPr lang="ko-KR" altLang="en-US" dirty="0" smtClean="0"/>
              <a:t>을 통하여 보상</a:t>
            </a:r>
            <a:r>
              <a:rPr lang="en-US" altLang="ko-KR" dirty="0" smtClean="0"/>
              <a:t>(Reward</a:t>
            </a:r>
            <a:r>
              <a:rPr lang="en-US" altLang="ko-KR" dirty="0"/>
              <a:t>)</a:t>
            </a:r>
            <a:r>
              <a:rPr lang="ko-KR" altLang="en-US" dirty="0" smtClean="0"/>
              <a:t>을 최대화하는 방향으로 </a:t>
            </a:r>
            <a:endParaRPr lang="en-US" altLang="ko-KR" dirty="0" smtClean="0"/>
          </a:p>
          <a:p>
            <a:r>
              <a:rPr lang="ko-KR" altLang="en-US" dirty="0" smtClean="0"/>
              <a:t>시행착오를 거쳐서 스스로 학습</a:t>
            </a:r>
            <a:r>
              <a:rPr lang="en-US" altLang="ko-KR" dirty="0" smtClean="0"/>
              <a:t>(</a:t>
            </a:r>
            <a:r>
              <a:rPr lang="ko-KR" altLang="en-US" dirty="0"/>
              <a:t>행</a:t>
            </a:r>
            <a:r>
              <a:rPr lang="ko-KR" altLang="en-US" dirty="0" smtClean="0"/>
              <a:t>동을 결정</a:t>
            </a:r>
            <a:r>
              <a:rPr lang="en-US" altLang="ko-KR" dirty="0" smtClean="0"/>
              <a:t>, Action)</a:t>
            </a:r>
            <a:r>
              <a:rPr lang="ko-KR" altLang="en-US" dirty="0" smtClean="0"/>
              <a:t>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38200" y="3884578"/>
            <a:ext cx="8888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지도 학습과 다른 점</a:t>
            </a:r>
            <a:r>
              <a:rPr lang="en-US" altLang="ko-KR" dirty="0" smtClean="0">
                <a:solidFill>
                  <a:srgbClr val="0000FF"/>
                </a:solidFill>
              </a:rPr>
              <a:t>: </a:t>
            </a:r>
            <a:r>
              <a:rPr lang="ko-KR" altLang="en-US" dirty="0" smtClean="0"/>
              <a:t>강화 학습은 </a:t>
            </a:r>
            <a:r>
              <a:rPr lang="en-US" altLang="ko-KR" dirty="0" smtClean="0"/>
              <a:t>Labeled Data</a:t>
            </a:r>
            <a:r>
              <a:rPr lang="ko-KR" altLang="en-US" dirty="0" smtClean="0"/>
              <a:t>와 같은 정답이 주어지지 않으며</a:t>
            </a:r>
            <a:r>
              <a:rPr lang="en-US" altLang="ko-KR" dirty="0" smtClean="0"/>
              <a:t>,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현재 </a:t>
            </a:r>
            <a:r>
              <a:rPr lang="ko-KR" altLang="en-US" dirty="0" smtClean="0"/>
              <a:t>행동에 </a:t>
            </a:r>
            <a:r>
              <a:rPr lang="ko-KR" altLang="en-US" dirty="0" smtClean="0"/>
              <a:t>대한 즉각적인 </a:t>
            </a:r>
            <a:r>
              <a:rPr lang="ko-KR" altLang="en-US" dirty="0" smtClean="0"/>
              <a:t>피드백 대신 </a:t>
            </a:r>
            <a:r>
              <a:rPr lang="ko-KR" altLang="en-US" dirty="0" smtClean="0">
                <a:solidFill>
                  <a:srgbClr val="0000FF"/>
                </a:solidFill>
              </a:rPr>
              <a:t>장기적인 보상을 목표로 한다</a:t>
            </a:r>
            <a:r>
              <a:rPr lang="en-US" altLang="ko-KR" dirty="0" smtClean="0">
                <a:solidFill>
                  <a:srgbClr val="0000FF"/>
                </a:solidFill>
              </a:rPr>
              <a:t>. Goal Seeking</a:t>
            </a:r>
            <a:endParaRPr lang="en-US" altLang="ko-KR" dirty="0" smtClean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200" y="4770056"/>
            <a:ext cx="10622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C00000"/>
                </a:solidFill>
              </a:rPr>
              <a:t>비지도 학습과 다른 점</a:t>
            </a:r>
            <a:r>
              <a:rPr lang="en-US" altLang="ko-KR" dirty="0" smtClean="0">
                <a:solidFill>
                  <a:srgbClr val="C00000"/>
                </a:solidFill>
              </a:rPr>
              <a:t>: </a:t>
            </a:r>
            <a:r>
              <a:rPr lang="ko-KR" altLang="en-US" dirty="0" smtClean="0"/>
              <a:t>강화 학습은 데이터 구조</a:t>
            </a:r>
            <a:r>
              <a:rPr lang="en-US" altLang="ko-KR" dirty="0" smtClean="0"/>
              <a:t>(data</a:t>
            </a:r>
            <a:r>
              <a:rPr lang="ko-KR" altLang="en-US" dirty="0" smtClean="0"/>
              <a:t> </a:t>
            </a:r>
            <a:r>
              <a:rPr lang="en-US" altLang="ko-KR" dirty="0" smtClean="0"/>
              <a:t>Structure)</a:t>
            </a:r>
            <a:r>
              <a:rPr lang="ko-KR" altLang="en-US" dirty="0" smtClean="0"/>
              <a:t>나 패턴</a:t>
            </a:r>
            <a:r>
              <a:rPr lang="en-US" altLang="ko-KR" dirty="0" smtClean="0"/>
              <a:t>(Pattern)</a:t>
            </a:r>
            <a:r>
              <a:rPr lang="ko-KR" altLang="en-US" dirty="0" smtClean="0"/>
              <a:t>을 찾는 것이 아니라</a:t>
            </a:r>
            <a:r>
              <a:rPr lang="en-US" altLang="ko-KR" dirty="0" smtClean="0"/>
              <a:t>, </a:t>
            </a:r>
          </a:p>
          <a:p>
            <a:r>
              <a:rPr lang="ko-KR" altLang="en-US" u="sng" dirty="0" smtClean="0">
                <a:solidFill>
                  <a:srgbClr val="0000FF"/>
                </a:solidFill>
              </a:rPr>
              <a:t>목표 달성</a:t>
            </a:r>
            <a:r>
              <a:rPr lang="en-US" altLang="ko-KR" u="sng" dirty="0" smtClean="0">
                <a:solidFill>
                  <a:srgbClr val="0000FF"/>
                </a:solidFill>
              </a:rPr>
              <a:t>(Goal Seeking)</a:t>
            </a:r>
            <a:r>
              <a:rPr lang="ko-KR" altLang="en-US" u="sng" dirty="0" smtClean="0">
                <a:solidFill>
                  <a:srgbClr val="0000FF"/>
                </a:solidFill>
              </a:rPr>
              <a:t>을 위한 행동</a:t>
            </a:r>
            <a:r>
              <a:rPr lang="en-US" altLang="ko-KR" u="sng" dirty="0" smtClean="0">
                <a:solidFill>
                  <a:srgbClr val="0000FF"/>
                </a:solidFill>
              </a:rPr>
              <a:t>(Policy)</a:t>
            </a:r>
            <a:r>
              <a:rPr lang="ko-KR" altLang="en-US" u="sng" dirty="0" smtClean="0">
                <a:solidFill>
                  <a:srgbClr val="0000FF"/>
                </a:solidFill>
              </a:rPr>
              <a:t>을 학습</a:t>
            </a:r>
            <a:r>
              <a:rPr lang="ko-KR" altLang="en-US" u="sng" dirty="0">
                <a:solidFill>
                  <a:srgbClr val="0000FF"/>
                </a:solidFill>
              </a:rPr>
              <a:t>한</a:t>
            </a:r>
            <a:r>
              <a:rPr lang="ko-KR" altLang="en-US" u="sng" dirty="0" smtClean="0">
                <a:solidFill>
                  <a:srgbClr val="0000FF"/>
                </a:solidFill>
              </a:rPr>
              <a:t>다</a:t>
            </a:r>
            <a:r>
              <a:rPr lang="en-US" altLang="ko-KR" u="sng" dirty="0" smtClean="0">
                <a:solidFill>
                  <a:srgbClr val="0000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957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  <a:solidFill>
            <a:schemeClr val="accent6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r>
              <a:rPr lang="en-US" altLang="ko-KR" sz="2400" dirty="0" smtClean="0"/>
              <a:t>(3) </a:t>
            </a:r>
            <a:r>
              <a:rPr lang="ko-KR" altLang="en-US" sz="2400" dirty="0" smtClean="0"/>
              <a:t>강화 학습 </a:t>
            </a:r>
            <a:r>
              <a:rPr lang="en-US" altLang="ko-KR" sz="2400" dirty="0" smtClean="0"/>
              <a:t>Reinforcing Learning</a:t>
            </a:r>
            <a:endParaRPr lang="ko-KR" altLang="en-US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727867" y="1300060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C00000"/>
                </a:solidFill>
              </a:rPr>
              <a:t>강화 학습 </a:t>
            </a:r>
            <a:r>
              <a:rPr lang="ko-KR" altLang="en-US" dirty="0" smtClean="0"/>
              <a:t>작동</a:t>
            </a:r>
            <a:r>
              <a:rPr lang="en-US" altLang="ko-KR" dirty="0" smtClean="0"/>
              <a:t> </a:t>
            </a:r>
            <a:r>
              <a:rPr lang="ko-KR" altLang="en-US" dirty="0" smtClean="0"/>
              <a:t>원리</a:t>
            </a:r>
            <a:r>
              <a:rPr lang="ko-KR" altLang="en-US" dirty="0" smtClean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1959322"/>
            <a:ext cx="108911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에이전트</a:t>
            </a:r>
            <a:r>
              <a:rPr lang="en-US" altLang="ko-KR" dirty="0" smtClean="0"/>
              <a:t>(Agent)</a:t>
            </a:r>
            <a:r>
              <a:rPr lang="ko-KR" altLang="en-US" dirty="0" smtClean="0"/>
              <a:t>가 환경</a:t>
            </a:r>
            <a:r>
              <a:rPr lang="en-US" altLang="ko-KR" dirty="0" smtClean="0"/>
              <a:t>(Environment)</a:t>
            </a:r>
            <a:r>
              <a:rPr lang="ko-KR" altLang="en-US" dirty="0" smtClean="0"/>
              <a:t>에서 행동</a:t>
            </a:r>
            <a:r>
              <a:rPr lang="en-US" altLang="ko-KR" dirty="0" smtClean="0"/>
              <a:t>(Action)</a:t>
            </a:r>
            <a:r>
              <a:rPr lang="ko-KR" altLang="en-US" dirty="0" smtClean="0"/>
              <a:t>을 취하고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그 결과에 따라 양</a:t>
            </a:r>
            <a:r>
              <a:rPr lang="en-US" altLang="ko-KR" dirty="0" smtClean="0"/>
              <a:t>(+)</a:t>
            </a:r>
            <a:r>
              <a:rPr lang="ko-KR" altLang="en-US" dirty="0" smtClean="0"/>
              <a:t>과 음</a:t>
            </a:r>
            <a:r>
              <a:rPr lang="en-US" altLang="ko-KR" dirty="0" smtClean="0"/>
              <a:t>(-)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보상을 받아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행동을 수정하여 최적의 행동을 탐색하는 방식을 학습한다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자율주행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로봇 제어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알파고</a:t>
            </a:r>
            <a:r>
              <a:rPr lang="en-US" altLang="ko-KR" dirty="0" smtClean="0"/>
              <a:t>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701964" y="1791854"/>
            <a:ext cx="10963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765759" y="3362035"/>
            <a:ext cx="10963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8200" y="3585840"/>
            <a:ext cx="71224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어떤 소프트웨어 에이전트가 행동을 취하고 보상을 받는다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행동에 따라 양의 보상</a:t>
            </a:r>
            <a:r>
              <a:rPr lang="en-US" altLang="ko-KR" dirty="0" smtClean="0"/>
              <a:t>(+) </a:t>
            </a:r>
            <a:r>
              <a:rPr lang="ko-KR" altLang="en-US" dirty="0" smtClean="0"/>
              <a:t>또는 음의 보상</a:t>
            </a:r>
            <a:r>
              <a:rPr lang="en-US" altLang="ko-KR" dirty="0" smtClean="0"/>
              <a:t>(-)</a:t>
            </a:r>
            <a:r>
              <a:rPr lang="ko-KR" altLang="en-US" dirty="0" smtClean="0"/>
              <a:t>이 주어진다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>
                <a:solidFill>
                  <a:srgbClr val="FF0000"/>
                </a:solidFill>
              </a:rPr>
              <a:t>시행착오를 통하여 </a:t>
            </a:r>
            <a:r>
              <a:rPr lang="ko-KR" altLang="en-US" dirty="0" smtClean="0"/>
              <a:t>양의 보상이 최대로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음의 보상이 최소가 되도록</a:t>
            </a:r>
            <a:endParaRPr lang="en-US" altLang="ko-KR" dirty="0" smtClean="0"/>
          </a:p>
          <a:p>
            <a:r>
              <a:rPr lang="ko-KR" altLang="en-US" dirty="0" smtClean="0">
                <a:solidFill>
                  <a:srgbClr val="0000FF"/>
                </a:solidFill>
              </a:rPr>
              <a:t>프로그램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r>
              <a:rPr lang="ko-KR" altLang="en-US" dirty="0" smtClean="0">
                <a:solidFill>
                  <a:srgbClr val="0000FF"/>
                </a:solidFill>
              </a:rPr>
              <a:t>또는 모델을 학습시킨다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이를 강화 학습이라고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701964" y="5292435"/>
            <a:ext cx="10963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5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강화 학습 </a:t>
            </a:r>
            <a:r>
              <a:rPr lang="en-US" altLang="ko-KR" sz="2400" dirty="0" smtClean="0"/>
              <a:t>Reinforcing Learning (RL) : </a:t>
            </a:r>
            <a:r>
              <a:rPr lang="ko-KR" altLang="en-US" sz="2400" dirty="0" smtClean="0"/>
              <a:t>머신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러닝의 한 기법</a:t>
            </a:r>
            <a:endParaRPr lang="ko-KR" altLang="en-US" sz="2400" dirty="0"/>
          </a:p>
        </p:txBody>
      </p:sp>
      <p:grpSp>
        <p:nvGrpSpPr>
          <p:cNvPr id="38" name="그룹 37"/>
          <p:cNvGrpSpPr/>
          <p:nvPr/>
        </p:nvGrpSpPr>
        <p:grpSpPr>
          <a:xfrm>
            <a:off x="781942" y="1143999"/>
            <a:ext cx="9349065" cy="5394913"/>
            <a:chOff x="1541066" y="1326562"/>
            <a:chExt cx="9349065" cy="5394913"/>
          </a:xfrm>
        </p:grpSpPr>
        <p:sp>
          <p:nvSpPr>
            <p:cNvPr id="3" name="구름 2"/>
            <p:cNvSpPr/>
            <p:nvPr/>
          </p:nvSpPr>
          <p:spPr>
            <a:xfrm>
              <a:off x="5044292" y="5807075"/>
              <a:ext cx="1815863" cy="914400"/>
            </a:xfrm>
            <a:prstGeom prst="cloud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0000FF"/>
                  </a:solidFill>
                </a:rPr>
                <a:t>자율</a:t>
              </a:r>
              <a:endParaRPr lang="en-US" altLang="ko-KR" dirty="0" smtClean="0">
                <a:solidFill>
                  <a:srgbClr val="0000FF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rgbClr val="0000FF"/>
                  </a:solidFill>
                </a:rPr>
                <a:t>에이전트</a:t>
              </a:r>
              <a:endParaRPr lang="ko-KR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111150" y="4187820"/>
              <a:ext cx="1682151" cy="9402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행동 결과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7806905" y="4213700"/>
              <a:ext cx="1475117" cy="8885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FF0000"/>
                  </a:solidFill>
                </a:rPr>
                <a:t>벌칙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직선 화살표 연결선 18"/>
            <p:cNvCxnSpPr>
              <a:stCxn id="3" idx="3"/>
              <a:endCxn id="14" idx="2"/>
            </p:cNvCxnSpPr>
            <p:nvPr/>
          </p:nvCxnSpPr>
          <p:spPr>
            <a:xfrm flipV="1">
              <a:off x="5952224" y="5128099"/>
              <a:ext cx="2" cy="7312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stCxn id="14" idx="3"/>
              <a:endCxn id="16" idx="2"/>
            </p:cNvCxnSpPr>
            <p:nvPr/>
          </p:nvCxnSpPr>
          <p:spPr>
            <a:xfrm>
              <a:off x="6793301" y="4657960"/>
              <a:ext cx="101360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/>
            <p:cNvSpPr/>
            <p:nvPr/>
          </p:nvSpPr>
          <p:spPr>
            <a:xfrm>
              <a:off x="5111149" y="2617812"/>
              <a:ext cx="1682151" cy="9402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행동 개선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 smtClean="0">
                  <a:solidFill>
                    <a:srgbClr val="FF0000"/>
                  </a:solidFill>
                </a:rPr>
                <a:t>(</a:t>
              </a:r>
              <a:r>
                <a:rPr lang="ko-KR" altLang="en-US" dirty="0" smtClean="0">
                  <a:solidFill>
                    <a:srgbClr val="FF0000"/>
                  </a:solidFill>
                </a:rPr>
                <a:t>최적 정책</a:t>
              </a:r>
              <a:r>
                <a:rPr lang="en-US" altLang="ko-KR" dirty="0" smtClean="0">
                  <a:solidFill>
                    <a:srgbClr val="FF0000"/>
                  </a:solidFill>
                </a:rPr>
                <a:t>)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6" name="꺾인 연결선 5"/>
            <p:cNvCxnSpPr>
              <a:stCxn id="16" idx="0"/>
              <a:endCxn id="34" idx="3"/>
            </p:cNvCxnSpPr>
            <p:nvPr/>
          </p:nvCxnSpPr>
          <p:spPr>
            <a:xfrm rot="16200000" flipV="1">
              <a:off x="7106008" y="2775244"/>
              <a:ext cx="1125748" cy="175116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타원 19"/>
            <p:cNvSpPr/>
            <p:nvPr/>
          </p:nvSpPr>
          <p:spPr>
            <a:xfrm>
              <a:off x="2622429" y="4198300"/>
              <a:ext cx="1475117" cy="8885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FF0000"/>
                  </a:solidFill>
                </a:rPr>
                <a:t>보상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직선 화살표 연결선 12"/>
            <p:cNvCxnSpPr>
              <a:stCxn id="14" idx="1"/>
              <a:endCxn id="20" idx="6"/>
            </p:cNvCxnSpPr>
            <p:nvPr/>
          </p:nvCxnSpPr>
          <p:spPr>
            <a:xfrm flipH="1" flipV="1">
              <a:off x="4097546" y="4642561"/>
              <a:ext cx="1013604" cy="153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꺾인 연결선 17"/>
            <p:cNvCxnSpPr>
              <a:stCxn id="20" idx="0"/>
              <a:endCxn id="34" idx="1"/>
            </p:cNvCxnSpPr>
            <p:nvPr/>
          </p:nvCxnSpPr>
          <p:spPr>
            <a:xfrm rot="5400000" flipH="1" flipV="1">
              <a:off x="3680394" y="2767546"/>
              <a:ext cx="1110348" cy="175116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34" idx="2"/>
              <a:endCxn id="14" idx="0"/>
            </p:cNvCxnSpPr>
            <p:nvPr/>
          </p:nvCxnSpPr>
          <p:spPr>
            <a:xfrm>
              <a:off x="5952225" y="3558091"/>
              <a:ext cx="1" cy="6297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구름 29"/>
            <p:cNvSpPr/>
            <p:nvPr/>
          </p:nvSpPr>
          <p:spPr>
            <a:xfrm>
              <a:off x="9074268" y="1326562"/>
              <a:ext cx="1815863" cy="914400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solidFill>
                    <a:srgbClr val="0000FF"/>
                  </a:solidFill>
                </a:rPr>
                <a:t>환경변화</a:t>
              </a:r>
              <a:endParaRPr lang="ko-KR" altLang="en-US" dirty="0">
                <a:solidFill>
                  <a:srgbClr val="0000FF"/>
                </a:solidFill>
              </a:endParaRPr>
            </a:p>
          </p:txBody>
        </p:sp>
        <p:cxnSp>
          <p:nvCxnSpPr>
            <p:cNvPr id="28" name="꺾인 연결선 27"/>
            <p:cNvCxnSpPr>
              <a:stCxn id="30" idx="1"/>
              <a:endCxn id="16" idx="6"/>
            </p:cNvCxnSpPr>
            <p:nvPr/>
          </p:nvCxnSpPr>
          <p:spPr>
            <a:xfrm rot="5400000">
              <a:off x="8423125" y="3098885"/>
              <a:ext cx="2417973" cy="70017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30" idx="2"/>
              <a:endCxn id="34" idx="0"/>
            </p:cNvCxnSpPr>
            <p:nvPr/>
          </p:nvCxnSpPr>
          <p:spPr>
            <a:xfrm rot="10800000" flipV="1">
              <a:off x="5952225" y="1783762"/>
              <a:ext cx="3127676" cy="83405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2855110" y="1849758"/>
              <a:ext cx="26713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>
                  <a:solidFill>
                    <a:srgbClr val="0000FF"/>
                  </a:solidFill>
                </a:rPr>
                <a:t>로봇 제어 학습</a:t>
              </a:r>
              <a:endParaRPr lang="en-US" altLang="ko-KR" dirty="0" smtClean="0">
                <a:solidFill>
                  <a:srgbClr val="0000FF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>
                  <a:solidFill>
                    <a:srgbClr val="0000FF"/>
                  </a:solidFill>
                </a:rPr>
                <a:t>자율 주행 제어 학습</a:t>
              </a:r>
              <a:endParaRPr lang="en-US" altLang="ko-KR" dirty="0" smtClean="0">
                <a:solidFill>
                  <a:srgbClr val="0000FF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dirty="0" smtClean="0">
                  <a:solidFill>
                    <a:srgbClr val="0000FF"/>
                  </a:solidFill>
                </a:rPr>
                <a:t>순차적 의사결정</a:t>
              </a:r>
              <a:endParaRPr lang="ko-KR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541066" y="5781682"/>
              <a:ext cx="4062791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자율 에이전트는 시스템</a:t>
              </a:r>
              <a:endPara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로봇 </a:t>
              </a:r>
              <a:r>
                <a: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 </a:t>
              </a: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로봇 에이전트</a:t>
              </a:r>
              <a:endPara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자율 주행차 </a:t>
              </a:r>
              <a:r>
                <a:rPr lang="en-US" altLang="ko-KR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 </a:t>
              </a:r>
              <a:r>
                <a:rPr lang="ko-KR" altLang="en-US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자율 주행 에이전트</a:t>
              </a:r>
              <a:endPara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cxnSp>
        <p:nvCxnSpPr>
          <p:cNvPr id="40" name="꺾인 연결선 39"/>
          <p:cNvCxnSpPr>
            <a:stCxn id="30" idx="0"/>
            <a:endCxn id="3" idx="0"/>
          </p:cNvCxnSpPr>
          <p:nvPr/>
        </p:nvCxnSpPr>
        <p:spPr>
          <a:xfrm flipH="1">
            <a:off x="6099518" y="1601199"/>
            <a:ext cx="4029976" cy="4480513"/>
          </a:xfrm>
          <a:prstGeom prst="bentConnector3">
            <a:avLst>
              <a:gd name="adj1" fmla="val -167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88138" y="3768346"/>
            <a:ext cx="798360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 smtClean="0"/>
              <a:t>State</a:t>
            </a:r>
            <a:endParaRPr lang="ko-KR" altLang="en-US" sz="200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5788138" y="2188610"/>
            <a:ext cx="97334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rgbClr val="0000FF"/>
                </a:solidFill>
              </a:rPr>
              <a:t>Action</a:t>
            </a:r>
            <a:endParaRPr lang="ko-KR" altLang="en-US" sz="2000" b="1" dirty="0">
              <a:solidFill>
                <a:srgbClr val="0000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022784" y="3815682"/>
            <a:ext cx="107542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rgbClr val="C00000"/>
                </a:solidFill>
              </a:rPr>
              <a:t>Penalty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814529" y="3768346"/>
            <a:ext cx="109010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rgbClr val="C00000"/>
                </a:solidFill>
              </a:rPr>
              <a:t>Reward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14529" y="3468262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maximize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043958" y="3493697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minimize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55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지도 학습</a:t>
            </a:r>
            <a:r>
              <a:rPr lang="en-US" altLang="ko-KR" sz="2400" dirty="0" smtClean="0"/>
              <a:t>(SL), </a:t>
            </a:r>
            <a:r>
              <a:rPr lang="ko-KR" altLang="en-US" sz="2400" dirty="0" smtClean="0"/>
              <a:t>비지도 학습</a:t>
            </a:r>
            <a:r>
              <a:rPr lang="en-US" altLang="ko-KR" sz="2400" dirty="0" smtClean="0"/>
              <a:t>(UL), </a:t>
            </a:r>
            <a:r>
              <a:rPr lang="ko-KR" altLang="en-US" sz="2400" dirty="0" smtClean="0"/>
              <a:t>강화 학습</a:t>
            </a:r>
            <a:r>
              <a:rPr lang="en-US" altLang="ko-KR" sz="2400" dirty="0" smtClean="0"/>
              <a:t>(RL)</a:t>
            </a:r>
            <a:endParaRPr lang="ko-KR" altLang="en-US" sz="2400" dirty="0"/>
          </a:p>
        </p:txBody>
      </p:sp>
      <p:grpSp>
        <p:nvGrpSpPr>
          <p:cNvPr id="7" name="그룹 6"/>
          <p:cNvGrpSpPr/>
          <p:nvPr/>
        </p:nvGrpSpPr>
        <p:grpSpPr>
          <a:xfrm>
            <a:off x="2287278" y="1403882"/>
            <a:ext cx="7172325" cy="4031839"/>
            <a:chOff x="2509837" y="1666875"/>
            <a:chExt cx="7172325" cy="403183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9837" y="1666875"/>
              <a:ext cx="7172325" cy="352425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2844801" y="5329382"/>
              <a:ext cx="1357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mtClean="0"/>
                <a:t>지도 학습</a:t>
              </a:r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09309" y="5329382"/>
              <a:ext cx="1523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mtClean="0"/>
                <a:t>비지도 학습</a:t>
              </a:r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48600" y="5283078"/>
              <a:ext cx="15239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smtClean="0"/>
                <a:t>강화 학습</a:t>
              </a:r>
              <a:endParaRPr lang="ko-KR" altLang="en-US" dirty="0"/>
            </a:p>
          </p:txBody>
        </p:sp>
      </p:grpSp>
      <p:sp>
        <p:nvSpPr>
          <p:cNvPr id="6" name="직사각형 5"/>
          <p:cNvSpPr/>
          <p:nvPr/>
        </p:nvSpPr>
        <p:spPr>
          <a:xfrm>
            <a:off x="4879063" y="6356350"/>
            <a:ext cx="24338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</a:rPr>
              <a:t>https://insighted-h.tistory.com/3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14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전통적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프로그램 개발 과정 </a:t>
            </a:r>
            <a:r>
              <a:rPr lang="en-US" altLang="ko-KR" sz="2400" dirty="0" smtClean="0"/>
              <a:t>Explicit Programming, Traditional Programming</a:t>
            </a:r>
            <a:endParaRPr lang="ko-KR" altLang="en-US" sz="2400" dirty="0"/>
          </a:p>
        </p:txBody>
      </p:sp>
      <p:sp>
        <p:nvSpPr>
          <p:cNvPr id="73" name="TextBox 72"/>
          <p:cNvSpPr txBox="1"/>
          <p:nvPr/>
        </p:nvSpPr>
        <p:spPr>
          <a:xfrm>
            <a:off x="1001027" y="1170126"/>
            <a:ext cx="1086547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Explicitly Programmed :</a:t>
            </a:r>
            <a:br>
              <a:rPr lang="en-US" altLang="ko-KR" dirty="0" smtClean="0"/>
            </a:br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라인 한 라인</a:t>
            </a:r>
            <a:r>
              <a:rPr lang="en-US" altLang="ko-KR" dirty="0"/>
              <a:t>, </a:t>
            </a:r>
            <a:r>
              <a:rPr lang="ko-KR" altLang="en-US" dirty="0"/>
              <a:t>한 스텝 한 스텝 단위로 프로그램을 </a:t>
            </a:r>
            <a:r>
              <a:rPr lang="ko-KR" altLang="en-US" dirty="0" smtClean="0"/>
              <a:t>직접 짜는 방식 </a:t>
            </a:r>
            <a:r>
              <a:rPr lang="en-US" altLang="ko-KR" dirty="0" smtClean="0"/>
              <a:t>(</a:t>
            </a:r>
            <a:r>
              <a:rPr lang="ko-KR" altLang="en-US" dirty="0" smtClean="0"/>
              <a:t>변수 정의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함수 정의 등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Implicit Programming :</a:t>
            </a:r>
            <a:br>
              <a:rPr lang="en-US" altLang="ko-KR" dirty="0" smtClean="0"/>
            </a:br>
            <a:r>
              <a:rPr lang="ko-KR" altLang="en-US" dirty="0" smtClean="0"/>
              <a:t>사람이 직접 코드를 짜지 않고 컴퓨터가 스스로 참조하여 프로그램 기능을 수행하는 방식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Rule-Based : </a:t>
            </a:r>
            <a:br>
              <a:rPr lang="en-US" altLang="ko-KR" dirty="0" smtClean="0"/>
            </a:br>
            <a:r>
              <a:rPr lang="ko-KR" altLang="en-US" dirty="0" smtClean="0"/>
              <a:t>룰 </a:t>
            </a:r>
            <a:r>
              <a:rPr lang="ko-KR" altLang="en-US" dirty="0"/>
              <a:t>기반으로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If-Then </a:t>
            </a:r>
            <a:r>
              <a:rPr lang="ko-KR" altLang="en-US" dirty="0"/>
              <a:t>논리 방식으로 짜여진 순서로 계산</a:t>
            </a:r>
            <a:endParaRPr lang="en-US" altLang="ko-KR" dirty="0"/>
          </a:p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Human-Driven :</a:t>
            </a:r>
            <a:br>
              <a:rPr lang="en-US" altLang="ko-KR" b="1" dirty="0" smtClean="0"/>
            </a:br>
            <a:r>
              <a:rPr lang="ko-KR" altLang="en-US" b="1" dirty="0"/>
              <a:t>프로그램 작성자</a:t>
            </a:r>
            <a:r>
              <a:rPr lang="en-US" altLang="ko-KR" b="1" dirty="0"/>
              <a:t>(Programmer)</a:t>
            </a:r>
            <a:r>
              <a:rPr lang="ko-KR" altLang="en-US" b="1" dirty="0"/>
              <a:t>에 의도에 따라 프로그램의 논리나 결과</a:t>
            </a:r>
            <a:r>
              <a:rPr lang="en-US" altLang="ko-KR" b="1" dirty="0"/>
              <a:t>(</a:t>
            </a:r>
            <a:r>
              <a:rPr lang="ko-KR" altLang="en-US" b="1" dirty="0"/>
              <a:t>산출물</a:t>
            </a:r>
            <a:r>
              <a:rPr lang="en-US" altLang="ko-KR" b="1" dirty="0"/>
              <a:t>)</a:t>
            </a:r>
            <a:r>
              <a:rPr lang="ko-KR" altLang="en-US" b="1" dirty="0"/>
              <a:t>가 나온다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Deterministic :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/>
              <a:t>미리 정해진 논리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로직</a:t>
            </a:r>
            <a:r>
              <a:rPr lang="ko-KR" altLang="en-US" dirty="0"/>
              <a:t> </a:t>
            </a:r>
            <a:r>
              <a:rPr lang="en-US" altLang="ko-KR" dirty="0"/>
              <a:t>Logic</a:t>
            </a:r>
            <a:r>
              <a:rPr lang="ko-KR" altLang="en-US" dirty="0"/>
              <a:t>을 따라 계산하기 때문에</a:t>
            </a:r>
            <a:r>
              <a:rPr lang="en-US" altLang="ko-KR" dirty="0"/>
              <a:t>, </a:t>
            </a:r>
            <a:r>
              <a:rPr lang="ko-KR" altLang="en-US" dirty="0"/>
              <a:t>같은 입력을 넣으면 항상 같은 결과가 나온다</a:t>
            </a:r>
            <a:r>
              <a:rPr lang="en-US" altLang="ko-KR" dirty="0"/>
              <a:t>.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Machine Learning </a:t>
            </a:r>
            <a:r>
              <a:rPr lang="ko-KR" altLang="en-US" dirty="0" smtClean="0"/>
              <a:t>과는 반대 </a:t>
            </a:r>
            <a:r>
              <a:rPr lang="en-US" altLang="ko-KR" dirty="0" smtClean="0"/>
              <a:t>:</a:t>
            </a:r>
            <a:br>
              <a:rPr lang="en-US" altLang="ko-KR" dirty="0" smtClean="0"/>
            </a:br>
            <a:r>
              <a:rPr lang="ko-KR" altLang="en-US" dirty="0" smtClean="0">
                <a:solidFill>
                  <a:srgbClr val="C00000"/>
                </a:solidFill>
              </a:rPr>
              <a:t>머신 러닝</a:t>
            </a:r>
            <a:r>
              <a:rPr lang="ko-KR" altLang="en-US" dirty="0" smtClean="0"/>
              <a:t>에서는 </a:t>
            </a:r>
            <a:r>
              <a:rPr lang="ko-KR" altLang="en-US" dirty="0" smtClean="0">
                <a:solidFill>
                  <a:srgbClr val="FF0000"/>
                </a:solidFill>
              </a:rPr>
              <a:t>시스템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모델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r>
              <a:rPr lang="ko-KR" altLang="en-US" dirty="0" smtClean="0">
                <a:solidFill>
                  <a:srgbClr val="FF0000"/>
                </a:solidFill>
              </a:rPr>
              <a:t>이 데이터로부터 패턴을 알아낸다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추가적인 명령 작업 없이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1203157" y="5987018"/>
            <a:ext cx="931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사례 </a:t>
            </a:r>
            <a:r>
              <a:rPr lang="en-US" altLang="ko-KR" dirty="0" smtClean="0"/>
              <a:t>: </a:t>
            </a:r>
            <a:r>
              <a:rPr lang="ko-KR" altLang="en-US" dirty="0" smtClean="0">
                <a:solidFill>
                  <a:srgbClr val="0000FF"/>
                </a:solidFill>
              </a:rPr>
              <a:t>계산기 기능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입력한 비밀번호의 비교</a:t>
            </a:r>
            <a:r>
              <a:rPr lang="en-US" altLang="ko-KR" dirty="0" smtClean="0">
                <a:solidFill>
                  <a:srgbClr val="0000FF"/>
                </a:solidFill>
              </a:rPr>
              <a:t>, </a:t>
            </a:r>
            <a:r>
              <a:rPr lang="ko-KR" altLang="en-US" dirty="0" smtClean="0">
                <a:solidFill>
                  <a:srgbClr val="0000FF"/>
                </a:solidFill>
              </a:rPr>
              <a:t>정해진 시점에 파일의 이동과 저장 작업 </a:t>
            </a:r>
            <a:r>
              <a:rPr lang="en-US" altLang="ko-KR" dirty="0" smtClean="0">
                <a:solidFill>
                  <a:srgbClr val="0000FF"/>
                </a:solidFill>
              </a:rPr>
              <a:t> 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4452569" y="6354246"/>
            <a:ext cx="3368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2"/>
              </a:rPr>
              <a:t>https://</a:t>
            </a:r>
            <a:r>
              <a:rPr lang="ko-KR" altLang="en-US" dirty="0" smtClean="0">
                <a:hlinkClick r:id="rId2"/>
              </a:rPr>
              <a:t>youtu.be/cnEsy_428fM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87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전통적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프로그램 개발 과정 </a:t>
            </a:r>
            <a:r>
              <a:rPr lang="en-US" altLang="ko-KR" sz="2400" dirty="0" smtClean="0"/>
              <a:t>Explicit Programming, Traditional Programming</a:t>
            </a:r>
            <a:endParaRPr lang="ko-KR" altLang="en-US" sz="2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05" y="1295951"/>
            <a:ext cx="8246019" cy="515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1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타원 18"/>
          <p:cNvSpPr/>
          <p:nvPr/>
        </p:nvSpPr>
        <p:spPr>
          <a:xfrm>
            <a:off x="215660" y="1537328"/>
            <a:ext cx="11473612" cy="3959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8505"/>
          </a:xfrm>
        </p:spPr>
        <p:txBody>
          <a:bodyPr anchor="t">
            <a:normAutofit/>
          </a:bodyPr>
          <a:lstStyle/>
          <a:p>
            <a:r>
              <a:rPr lang="ko-KR" altLang="en-US" sz="2400" dirty="0" smtClean="0"/>
              <a:t>강의 도구 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기초부터 쉽게</a:t>
            </a:r>
            <a:r>
              <a:rPr lang="en-US" altLang="ko-KR" sz="2400" dirty="0" smtClean="0"/>
              <a:t>! </a:t>
            </a:r>
            <a:r>
              <a:rPr lang="ko-KR" altLang="en-US" sz="2400" dirty="0" smtClean="0"/>
              <a:t>강의</a:t>
            </a:r>
            <a:endParaRPr lang="ko-KR" altLang="en-US" sz="24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072" y="3527425"/>
            <a:ext cx="1727200" cy="24003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984" y="3098800"/>
            <a:ext cx="2432050" cy="32575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252" y="1124159"/>
            <a:ext cx="2111382" cy="178126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776" y="943768"/>
            <a:ext cx="2141778" cy="171342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984" y="1209524"/>
            <a:ext cx="1576462" cy="144766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34" y="3918997"/>
            <a:ext cx="2905125" cy="96202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0776" y="3280445"/>
            <a:ext cx="2396559" cy="17909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63161" y="5901997"/>
            <a:ext cx="533299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시스템 다이내믹스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개정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판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김창훈 </a:t>
            </a:r>
            <a:r>
              <a:rPr lang="en-US" altLang="ko-KR" sz="1600" dirty="0" smtClean="0"/>
              <a:t>2025</a:t>
            </a:r>
            <a:r>
              <a:rPr lang="ko-KR" altLang="en-US" sz="1600" dirty="0" smtClean="0"/>
              <a:t>년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박영사</a:t>
            </a:r>
            <a:endParaRPr lang="ko-KR" altLang="en-US" sz="1600" dirty="0"/>
          </a:p>
        </p:txBody>
      </p:sp>
      <p:sp>
        <p:nvSpPr>
          <p:cNvPr id="18" name="직사각형 17"/>
          <p:cNvSpPr/>
          <p:nvPr/>
        </p:nvSpPr>
        <p:spPr>
          <a:xfrm>
            <a:off x="2214899" y="6226654"/>
            <a:ext cx="4855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hlinkClick r:id="rId9"/>
              </a:rPr>
              <a:t>https://www.youtube.com/@simulation_2024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38850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9711</TotalTime>
  <Words>1239</Words>
  <Application>Microsoft Office PowerPoint</Application>
  <PresentationFormat>와이드스크린</PresentationFormat>
  <Paragraphs>294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제1강. 통계적 모델링</vt:lpstr>
      <vt:lpstr>진리(眞理)와 근거(根據)를 토대로 문제를 해결</vt:lpstr>
      <vt:lpstr>진리(眞理)와 근거(根據)를 토대로 문제를 해결</vt:lpstr>
      <vt:lpstr>진리(眞理)와 근거(根據)를 토대로 문제를 해결</vt:lpstr>
      <vt:lpstr>진리(眞理)와 근거(根據)를 토대로 문제를 해결</vt:lpstr>
      <vt:lpstr>진리(眞理)와 근거(根據)를 토대로 문제를 해결 by What If ?</vt:lpstr>
      <vt:lpstr>통계적 모델링, Statistical Modeling</vt:lpstr>
      <vt:lpstr>통계적 모델링, Statistical Modeling</vt:lpstr>
      <vt:lpstr>통계적 모델링, Statistical Modeling</vt:lpstr>
      <vt:lpstr>통계적 모델링, Statistical Modeling</vt:lpstr>
      <vt:lpstr>통계적 모델링, Statistical Modeling</vt:lpstr>
      <vt:lpstr>인공 지능 Artificial Intelligence은 어떤 프로그램(Program) 이다.</vt:lpstr>
      <vt:lpstr>Methods in AI</vt:lpstr>
      <vt:lpstr>미지(未知)의 세계를 알아내는 두 가지 AI</vt:lpstr>
      <vt:lpstr>미지(未知)의 세계를 알아내는 두 가지 AI</vt:lpstr>
      <vt:lpstr>미지(未知)의 세계를 알아내는 두 가지 AI</vt:lpstr>
      <vt:lpstr>미지(未知)의 세계를 알아내는 두 가지 AI</vt:lpstr>
      <vt:lpstr>미지(未知)의 세계를 알아내는 두 가지 AI</vt:lpstr>
      <vt:lpstr>미지(未知)의 세계를 알아내는 두 가지 AI</vt:lpstr>
      <vt:lpstr>미지(未知)의 세계를 알아내는 그 외의 방법</vt:lpstr>
      <vt:lpstr>AI / Machine Learning / Generative AI / Large Language Model (LLM)</vt:lpstr>
      <vt:lpstr>머신 러닝 Machine Learning</vt:lpstr>
      <vt:lpstr>(1) 지도 학습 Supervised Learning   (2) 비지도 학습 Unsupervised Learning</vt:lpstr>
      <vt:lpstr>(3) 강화 학습 Reinforcing Learning</vt:lpstr>
      <vt:lpstr>(3) 강화 학습 Reinforcing Learning</vt:lpstr>
      <vt:lpstr>강화 학습 Reinforcing Learning (RL) : 머신 러닝의 한 기법</vt:lpstr>
      <vt:lpstr>지도 학습(SL), 비지도 학습(UL), 강화 학습(RL)</vt:lpstr>
      <vt:lpstr>전통적 프로그램 개발 과정 Explicit Programming, Traditional Programming</vt:lpstr>
      <vt:lpstr>전통적 프로그램 개발 과정 Explicit Programming, Traditional Programming</vt:lpstr>
      <vt:lpstr>강의 도구 : 기초부터 쉽게! 강의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제1강. 통계적 모델링</dc:title>
  <dc:creator>김창훈</dc:creator>
  <cp:lastModifiedBy>samsung</cp:lastModifiedBy>
  <cp:revision>77</cp:revision>
  <dcterms:created xsi:type="dcterms:W3CDTF">2026-03-03T04:27:28Z</dcterms:created>
  <dcterms:modified xsi:type="dcterms:W3CDTF">2026-03-12T23:14:24Z</dcterms:modified>
</cp:coreProperties>
</file>